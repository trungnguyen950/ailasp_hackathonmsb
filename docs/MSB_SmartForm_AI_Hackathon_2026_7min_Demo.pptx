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0:00–0:35. Mở bài: Giới thiệu sản phẩm trong một câu: MSB SmartForm AI giúp khách hàng chỉ cần nói nhu cầu, hệ thống tự chọn đúng mẫu biểu MSB, hỏi thông tin còn thiếu, điền hồ sơ và tạo checklist ký/nộp. Nhấn mạnh đây là demo AI for Customers, không dùng dữ liệu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0:35–1:10. Nói về nỗi đau: khách hàng nói “thêm kế toán vào eBank” nhưng phía ngân hàng phải xác định loại khách hàng, quyền maker/checker/approver, hạn mức, OTP, chữ ký số, mẫu nào, ai ký. Mỗi sai sót gây bổ sung hồ sơ.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1:10–1:55. Chuyển từ vấn đề sang giải pháp. Nhấn mạnh đây không phải chatbot hỏi đáp, mà là multi-step agent: có mục tiêu, tự chia bước và kiểm tra kết quả.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1:55–2:35. Nói rõ có 5 persona nhưng demo chính chọn TNHH Z vì tình huống phức tạp nhất: vừa có tài khoản, thuế điện tử, chữ ký số, thông tin người đại diện, hồ sơ ký. Các persona còn lại chứng minh sản phẩm mở rộng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2:35–4:20. Đây là phần demo chính. Nhập đúng câu prompt của khách hàng. Khi Agent hỏi thông tin thiếu, nhập nhanh bộ dữ liệu giả lập. Sau đó click tạo hồ sơ và chỉ vào các kết quả: mẫu cần dùng, trường đã điền, trường còn thiếu, người ký, checklist,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4:20–5:05. Giải thích ngắn kiến trúc: Knowledge Base chứa mẫu biểu. Form Registry là xương sống để không chọn sai mẫu. Agent hiểu nhu cầu và loại khách hàng. Drafting engine điền mẫu. Validation engine kiểm soát trước khi xuất.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5:05–5:45. Đây là slide trả lời trước câu hỏi về rủi ro. Nhấn mạnh: không dùng dữ liệu thật, không hỏi thông tin bí mật, không thay chuyên viên/khâu phê duyệt của MSB. Agent có trạng thái kiểm soát rõ ràng.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5:45–6:25. Nói về giá trị. Đừng hứa số liệu chắc chắn nếu chưa pilot; nói là mục tiêu/kỳ vọng đo bằng pilot. Liên hệ tiêu chí Reach, Impact, Confidence để BGK thấy phù hợp thang điểm.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6:25–7:00. Slide chốt. Nói ngắn gọn yêu cầu: cho pilot 20–30 mẫu phổ biến, đo hiệu quả trước/sau, bổ sung thư viện mẫu theo từng sprint. Cảm ơn BGK và chuyển sang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mnt/data/a_modern_corporate_office_meeting_scene_with_a_cle_batch_1.png">    </p:cNvPr>
          <p:cNvPicPr>
            <a:picLocks noChangeAspect="1"/>
          </p:cNvPicPr>
          <p:nvPr/>
        </p:nvPicPr>
        <p:blipFill>
          <a:blip r:embed="rId1"/>
          <a:srcRect l="24674" r="24674" t="0" b="0"/>
          <a:stretch/>
        </p:blipFill>
        <p:spPr>
          <a:xfrm>
            <a:off x="6016752" y="0"/>
            <a:ext cx="6172200" cy="6858000"/>
          </a:xfrm>
          <a:prstGeom prst="rect">
            <a:avLst/>
          </a:prstGeom>
        </p:spPr>
      </p:pic>
      <p:sp>
        <p:nvSpPr>
          <p:cNvPr id="3" name="Text 0"/>
          <p:cNvSpPr/>
          <p:nvPr/>
        </p:nvSpPr>
        <p:spPr>
          <a:xfrm>
            <a:off x="640080" y="566928"/>
            <a:ext cx="3108960" cy="246888"/>
          </a:xfrm>
          <a:prstGeom prst="rect">
            <a:avLst/>
          </a:prstGeom>
          <a:noFill/>
          <a:ln/>
        </p:spPr>
        <p:txBody>
          <a:bodyPr wrap="square" lIns="0" tIns="0" rIns="0" bIns="0" rtlCol="0" anchor="ctr"/>
          <a:lstStyle/>
          <a:p>
            <a:pPr indent="0" marL="0">
              <a:buNone/>
            </a:pPr>
            <a:r>
              <a:rPr lang="en-US" sz="1100" b="1" dirty="0">
                <a:solidFill>
                  <a:srgbClr val="E30613"/>
                </a:solidFill>
              </a:rPr>
              <a:t>MSB AI Hackathon 2026</a:t>
            </a:r>
            <a:endParaRPr lang="en-US" sz="1100" dirty="0"/>
          </a:p>
        </p:txBody>
      </p:sp>
      <p:sp>
        <p:nvSpPr>
          <p:cNvPr id="4" name="Text 1"/>
          <p:cNvSpPr/>
          <p:nvPr/>
        </p:nvSpPr>
        <p:spPr>
          <a:xfrm>
            <a:off x="621792" y="1234440"/>
            <a:ext cx="5212080" cy="1261872"/>
          </a:xfrm>
          <a:prstGeom prst="rect">
            <a:avLst/>
          </a:prstGeom>
          <a:noFill/>
          <a:ln/>
        </p:spPr>
        <p:txBody>
          <a:bodyPr wrap="square" lIns="127" tIns="127" rIns="127" bIns="127" rtlCol="0" anchor="ctr">
            <a:normAutofit/>
          </a:bodyPr>
          <a:lstStyle/>
          <a:p>
            <a:pPr indent="0" marL="0">
              <a:buNone/>
            </a:pPr>
            <a:r>
              <a:rPr lang="en-US" sz="4000" b="1" dirty="0">
                <a:solidFill>
                  <a:srgbClr val="0B1F3A"/>
                </a:solidFill>
                <a:latin typeface="Arial" pitchFamily="34" charset="0"/>
                <a:ea typeface="Arial" pitchFamily="34" charset="-122"/>
                <a:cs typeface="Arial" pitchFamily="34" charset="-120"/>
              </a:rPr>
              <a:t>MSB</a:t>
            </a:r>
            <a:endParaRPr lang="en-US" sz="4000" dirty="0"/>
          </a:p>
          <a:p>
            <a:pPr indent="0" marL="0">
              <a:buNone/>
            </a:pPr>
            <a:r>
              <a:rPr lang="en-US" sz="4000" b="1" dirty="0">
                <a:solidFill>
                  <a:srgbClr val="0B1F3A"/>
                </a:solidFill>
                <a:latin typeface="Arial" pitchFamily="34" charset="0"/>
                <a:ea typeface="Arial" pitchFamily="34" charset="-122"/>
                <a:cs typeface="Arial" pitchFamily="34" charset="-120"/>
              </a:rPr>
              <a:t>SmartForm AI</a:t>
            </a:r>
            <a:endParaRPr lang="en-US" sz="4000" dirty="0"/>
          </a:p>
        </p:txBody>
      </p:sp>
      <p:sp>
        <p:nvSpPr>
          <p:cNvPr id="5" name="Text 2"/>
          <p:cNvSpPr/>
          <p:nvPr/>
        </p:nvSpPr>
        <p:spPr>
          <a:xfrm>
            <a:off x="658368" y="2743200"/>
            <a:ext cx="4846320" cy="292608"/>
          </a:xfrm>
          <a:prstGeom prst="rect">
            <a:avLst/>
          </a:prstGeom>
          <a:noFill/>
          <a:ln/>
        </p:spPr>
        <p:txBody>
          <a:bodyPr wrap="square" lIns="0" tIns="0" rIns="0" bIns="0" rtlCol="0" anchor="ctr"/>
          <a:lstStyle/>
          <a:p>
            <a:pPr indent="0" marL="0">
              <a:buNone/>
            </a:pPr>
            <a:r>
              <a:rPr lang="en-US" sz="1700" dirty="0">
                <a:solidFill>
                  <a:srgbClr val="111827"/>
                </a:solidFill>
              </a:rPr>
              <a:t>Trợ lý AI lập hồ sơ &amp; mẫu biểu khách hàng MSB</a:t>
            </a:r>
            <a:endParaRPr lang="en-US" sz="1700" dirty="0"/>
          </a:p>
        </p:txBody>
      </p:sp>
      <p:sp>
        <p:nvSpPr>
          <p:cNvPr id="6" name="Text 3"/>
          <p:cNvSpPr/>
          <p:nvPr/>
        </p:nvSpPr>
        <p:spPr>
          <a:xfrm>
            <a:off x="658368" y="3200400"/>
            <a:ext cx="4846320" cy="219456"/>
          </a:xfrm>
          <a:prstGeom prst="rect">
            <a:avLst/>
          </a:prstGeom>
          <a:noFill/>
          <a:ln/>
        </p:spPr>
        <p:txBody>
          <a:bodyPr wrap="square" lIns="0" tIns="0" rIns="0" bIns="0" rtlCol="0" anchor="ctr"/>
          <a:lstStyle/>
          <a:p>
            <a:pPr indent="0" marL="0">
              <a:buNone/>
            </a:pPr>
            <a:r>
              <a:rPr lang="en-US" sz="1250" dirty="0">
                <a:solidFill>
                  <a:srgbClr val="667085"/>
                </a:solidFill>
              </a:rPr>
              <a:t>Demo 7 phút • AI for Customers • Banking Form Copilot</a:t>
            </a:r>
            <a:endParaRPr lang="en-US" sz="1250" dirty="0"/>
          </a:p>
        </p:txBody>
      </p:sp>
      <p:sp>
        <p:nvSpPr>
          <p:cNvPr id="7" name="Shape 4"/>
          <p:cNvSpPr/>
          <p:nvPr/>
        </p:nvSpPr>
        <p:spPr>
          <a:xfrm>
            <a:off x="658368" y="3803904"/>
            <a:ext cx="4434840" cy="338328"/>
          </a:xfrm>
          <a:prstGeom prst="roundRect">
            <a:avLst>
              <a:gd name="adj" fmla="val 10811"/>
            </a:avLst>
          </a:prstGeom>
          <a:solidFill>
            <a:srgbClr val="E7F7F1"/>
          </a:solidFill>
          <a:ln w="17780">
            <a:solidFill>
              <a:srgbClr val="00A676"/>
            </a:solidFill>
            <a:prstDash val="solid"/>
          </a:ln>
        </p:spPr>
      </p:sp>
      <p:sp>
        <p:nvSpPr>
          <p:cNvPr id="8" name="Text 5"/>
          <p:cNvSpPr/>
          <p:nvPr/>
        </p:nvSpPr>
        <p:spPr>
          <a:xfrm>
            <a:off x="731520" y="3867912"/>
            <a:ext cx="4288536" cy="146304"/>
          </a:xfrm>
          <a:prstGeom prst="rect">
            <a:avLst/>
          </a:prstGeom>
          <a:noFill/>
          <a:ln/>
        </p:spPr>
        <p:txBody>
          <a:bodyPr wrap="square" lIns="0" tIns="0" rIns="0" bIns="0" rtlCol="0" anchor="ctr">
            <a:normAutofit/>
          </a:bodyPr>
          <a:lstStyle/>
          <a:p>
            <a:pPr algn="ctr" indent="0" marL="0">
              <a:buNone/>
            </a:pPr>
            <a:r>
              <a:rPr lang="en-US" sz="940" b="1" dirty="0">
                <a:solidFill>
                  <a:srgbClr val="00A676"/>
                </a:solidFill>
              </a:rPr>
              <a:t>Từ nhu cầu khách hàng → bộ hồ sơ sẵn sàng ký/nộp</a:t>
            </a:r>
            <a:endParaRPr lang="en-US" sz="940" dirty="0"/>
          </a:p>
        </p:txBody>
      </p:sp>
      <p:sp>
        <p:nvSpPr>
          <p:cNvPr id="9" name="Text 6"/>
          <p:cNvSpPr/>
          <p:nvPr/>
        </p:nvSpPr>
        <p:spPr>
          <a:xfrm>
            <a:off x="658368" y="5715000"/>
            <a:ext cx="4572000" cy="502920"/>
          </a:xfrm>
          <a:prstGeom prst="rect">
            <a:avLst/>
          </a:prstGeom>
          <a:noFill/>
          <a:ln/>
        </p:spPr>
        <p:txBody>
          <a:bodyPr wrap="square" lIns="254" tIns="254" rIns="254" bIns="254" rtlCol="0" anchor="ctr"/>
          <a:lstStyle/>
          <a:p>
            <a:pPr indent="0" marL="0">
              <a:buNone/>
            </a:pPr>
            <a:r>
              <a:rPr lang="en-US" sz="1080" dirty="0">
                <a:solidFill>
                  <a:srgbClr val="667085"/>
                </a:solidFill>
              </a:rPr>
              <a:t>Pitch owner: ........................................</a:t>
            </a:r>
            <a:endParaRPr lang="en-US" sz="1080" dirty="0"/>
          </a:p>
          <a:p>
            <a:pPr indent="0" marL="0">
              <a:buNone/>
            </a:pPr>
            <a:r>
              <a:rPr lang="en-US" sz="1080" dirty="0">
                <a:solidFill>
                  <a:srgbClr val="667085"/>
                </a:solidFill>
              </a:rPr>
              <a:t>Chuyên viên hỗ trợ DN: ........................................</a:t>
            </a:r>
            <a:endParaRPr lang="en-US" sz="10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84048" y="201168"/>
            <a:ext cx="2103120" cy="201168"/>
          </a:xfrm>
          <a:prstGeom prst="rect">
            <a:avLst/>
          </a:prstGeom>
          <a:noFill/>
          <a:ln/>
        </p:spPr>
        <p:txBody>
          <a:bodyPr wrap="square" lIns="0" tIns="0" rIns="0" bIns="0" rtlCol="0" anchor="ctr"/>
          <a:lstStyle/>
          <a:p>
            <a:pPr indent="0" marL="0">
              <a:buNone/>
            </a:pPr>
            <a:r>
              <a:rPr lang="en-US" sz="950" b="1" dirty="0">
                <a:solidFill>
                  <a:srgbClr val="E30613"/>
                </a:solidFill>
                <a:latin typeface="Arial" pitchFamily="34" charset="0"/>
                <a:ea typeface="Arial" pitchFamily="34" charset="-122"/>
                <a:cs typeface="Arial" pitchFamily="34" charset="-120"/>
              </a:rPr>
              <a:t>MSB SmartForm AI</a:t>
            </a:r>
            <a:endParaRPr lang="en-US" sz="950" dirty="0"/>
          </a:p>
        </p:txBody>
      </p:sp>
      <p:sp>
        <p:nvSpPr>
          <p:cNvPr id="3" name="Text 1"/>
          <p:cNvSpPr/>
          <p:nvPr/>
        </p:nvSpPr>
        <p:spPr>
          <a:xfrm>
            <a:off x="7635240" y="201168"/>
            <a:ext cx="3977640" cy="201168"/>
          </a:xfrm>
          <a:prstGeom prst="rect">
            <a:avLst/>
          </a:prstGeom>
          <a:noFill/>
          <a:ln/>
        </p:spPr>
        <p:txBody>
          <a:bodyPr wrap="square" lIns="0" tIns="0" rIns="0" bIns="0" rtlCol="0" anchor="ctr"/>
          <a:lstStyle/>
          <a:p>
            <a:pPr algn="r" indent="0" marL="0">
              <a:buNone/>
            </a:pPr>
            <a:r>
              <a:rPr lang="en-US" sz="880" dirty="0">
                <a:solidFill>
                  <a:srgbClr val="667085"/>
                </a:solidFill>
                <a:latin typeface="Arial" pitchFamily="34" charset="0"/>
                <a:ea typeface="Arial" pitchFamily="34" charset="-122"/>
                <a:cs typeface="Arial" pitchFamily="34" charset="-120"/>
              </a:rPr>
              <a:t>AI FOR CUSTOMERS • MSB AI Hackathon 2026</a:t>
            </a:r>
            <a:endParaRPr lang="en-US" sz="880" dirty="0"/>
          </a:p>
        </p:txBody>
      </p:sp>
      <p:sp>
        <p:nvSpPr>
          <p:cNvPr id="4" name="Shape 2"/>
          <p:cNvSpPr/>
          <p:nvPr/>
        </p:nvSpPr>
        <p:spPr>
          <a:xfrm>
            <a:off x="384048" y="502920"/>
            <a:ext cx="11430000" cy="0"/>
          </a:xfrm>
          <a:prstGeom prst="line">
            <a:avLst/>
          </a:prstGeom>
          <a:noFill/>
          <a:ln w="9525">
            <a:solidFill>
              <a:srgbClr val="E5E7EB"/>
            </a:solidFill>
            <a:prstDash val="solid"/>
          </a:ln>
        </p:spPr>
      </p:sp>
      <p:sp>
        <p:nvSpPr>
          <p:cNvPr id="5" name="Text 3"/>
          <p:cNvSpPr/>
          <p:nvPr/>
        </p:nvSpPr>
        <p:spPr>
          <a:xfrm>
            <a:off x="658368" y="685800"/>
            <a:ext cx="5715000" cy="393192"/>
          </a:xfrm>
          <a:prstGeom prst="rect">
            <a:avLst/>
          </a:prstGeom>
          <a:noFill/>
          <a:ln/>
        </p:spPr>
        <p:txBody>
          <a:bodyPr wrap="square" lIns="0" tIns="0" rIns="0" bIns="0" rtlCol="0" anchor="ctr"/>
          <a:lstStyle/>
          <a:p>
            <a:pPr indent="0" marL="0">
              <a:buNone/>
            </a:pPr>
            <a:r>
              <a:rPr lang="en-US" sz="2400" b="1" dirty="0">
                <a:solidFill>
                  <a:srgbClr val="0B1F3A"/>
                </a:solidFill>
                <a:latin typeface="Arial" pitchFamily="34" charset="0"/>
                <a:ea typeface="Arial" pitchFamily="34" charset="-122"/>
                <a:cs typeface="Arial" pitchFamily="34" charset="-120"/>
              </a:rPr>
              <a:t>Vấn đề: khách hàng không biết cần mẫu nào</a:t>
            </a:r>
            <a:endParaRPr lang="en-US" sz="2400" dirty="0"/>
          </a:p>
        </p:txBody>
      </p:sp>
      <p:sp>
        <p:nvSpPr>
          <p:cNvPr id="6" name="Text 4"/>
          <p:cNvSpPr/>
          <p:nvPr/>
        </p:nvSpPr>
        <p:spPr>
          <a:xfrm>
            <a:off x="11311128" y="6355080"/>
            <a:ext cx="411480" cy="182880"/>
          </a:xfrm>
          <a:prstGeom prst="rect">
            <a:avLst/>
          </a:prstGeom>
          <a:noFill/>
          <a:ln/>
        </p:spPr>
        <p:txBody>
          <a:bodyPr wrap="square" lIns="0" tIns="0" rIns="0" bIns="0" rtlCol="0" anchor="ctr"/>
          <a:lstStyle/>
          <a:p>
            <a:pPr algn="r" indent="0" marL="0">
              <a:buNone/>
            </a:pPr>
            <a:r>
              <a:rPr lang="en-US" sz="900" dirty="0">
                <a:solidFill>
                  <a:srgbClr val="98A2B3"/>
                </a:solidFill>
              </a:rPr>
              <a:t>02</a:t>
            </a:r>
            <a:endParaRPr lang="en-US" sz="900" dirty="0"/>
          </a:p>
        </p:txBody>
      </p:sp>
      <p:pic>
        <p:nvPicPr>
          <p:cNvPr id="7" name="Image 0" descr="/mnt/data/wide_cinematic_realistic_corporate_office_operat_batch_3.png">    </p:cNvPr>
          <p:cNvPicPr>
            <a:picLocks noChangeAspect="1"/>
          </p:cNvPicPr>
          <p:nvPr/>
        </p:nvPicPr>
        <p:blipFill>
          <a:blip r:embed="rId1"/>
          <a:srcRect l="17710" r="17710" t="0" b="0"/>
          <a:stretch/>
        </p:blipFill>
        <p:spPr>
          <a:xfrm>
            <a:off x="6629400" y="914400"/>
            <a:ext cx="5193792" cy="4526280"/>
          </a:xfrm>
          <a:prstGeom prst="rect">
            <a:avLst/>
          </a:prstGeom>
        </p:spPr>
      </p:pic>
      <p:sp>
        <p:nvSpPr>
          <p:cNvPr id="8" name="Shape 5"/>
          <p:cNvSpPr/>
          <p:nvPr/>
        </p:nvSpPr>
        <p:spPr>
          <a:xfrm>
            <a:off x="658368" y="1417320"/>
            <a:ext cx="5440680" cy="3886200"/>
          </a:xfrm>
          <a:prstGeom prst="roundRect">
            <a:avLst>
              <a:gd name="adj" fmla="val 1647"/>
            </a:avLst>
          </a:prstGeom>
          <a:solidFill>
            <a:srgbClr val="FFFFFF"/>
          </a:solidFill>
          <a:ln w="12700">
            <a:solidFill>
              <a:srgbClr val="EAECF0"/>
            </a:solidFill>
            <a:prstDash val="solid"/>
          </a:ln>
        </p:spPr>
      </p:sp>
      <p:sp>
        <p:nvSpPr>
          <p:cNvPr id="9" name="Text 6"/>
          <p:cNvSpPr/>
          <p:nvPr/>
        </p:nvSpPr>
        <p:spPr>
          <a:xfrm>
            <a:off x="896112" y="1719072"/>
            <a:ext cx="4206240" cy="310896"/>
          </a:xfrm>
          <a:prstGeom prst="rect">
            <a:avLst/>
          </a:prstGeom>
          <a:noFill/>
          <a:ln/>
        </p:spPr>
        <p:txBody>
          <a:bodyPr wrap="square" lIns="0" tIns="0" rIns="0" bIns="0" rtlCol="0" anchor="ctr"/>
          <a:lstStyle/>
          <a:p>
            <a:pPr indent="0" marL="0">
              <a:buNone/>
            </a:pPr>
            <a:r>
              <a:rPr lang="en-US" sz="2100" b="1" dirty="0">
                <a:solidFill>
                  <a:srgbClr val="0B1F3A"/>
                </a:solidFill>
              </a:rPr>
              <a:t>Pain points hiện tại</a:t>
            </a:r>
            <a:endParaRPr lang="en-US" sz="2100" dirty="0"/>
          </a:p>
        </p:txBody>
      </p:sp>
      <p:sp>
        <p:nvSpPr>
          <p:cNvPr id="10" name="Text 7"/>
          <p:cNvSpPr/>
          <p:nvPr/>
        </p:nvSpPr>
        <p:spPr>
          <a:xfrm>
            <a:off x="896112" y="2286000"/>
            <a:ext cx="347472" cy="228600"/>
          </a:xfrm>
          <a:prstGeom prst="rect">
            <a:avLst/>
          </a:prstGeom>
          <a:noFill/>
          <a:ln/>
        </p:spPr>
        <p:txBody>
          <a:bodyPr wrap="square" lIns="0" tIns="0" rIns="0" bIns="0" rtlCol="0" anchor="ctr"/>
          <a:lstStyle/>
          <a:p>
            <a:pPr algn="ctr" indent="0" marL="0">
              <a:buNone/>
            </a:pPr>
            <a:r>
              <a:rPr lang="en-US" sz="1200" b="1" dirty="0">
                <a:solidFill>
                  <a:srgbClr val="E30613"/>
                </a:solidFill>
              </a:rPr>
              <a:t>01</a:t>
            </a:r>
            <a:endParaRPr lang="en-US" sz="1200" dirty="0"/>
          </a:p>
        </p:txBody>
      </p:sp>
      <p:sp>
        <p:nvSpPr>
          <p:cNvPr id="11" name="Text 8"/>
          <p:cNvSpPr/>
          <p:nvPr/>
        </p:nvSpPr>
        <p:spPr>
          <a:xfrm>
            <a:off x="1371600" y="2267712"/>
            <a:ext cx="2103120" cy="228600"/>
          </a:xfrm>
          <a:prstGeom prst="rect">
            <a:avLst/>
          </a:prstGeom>
          <a:noFill/>
          <a:ln/>
        </p:spPr>
        <p:txBody>
          <a:bodyPr wrap="square" lIns="0" tIns="0" rIns="0" bIns="0" rtlCol="0" anchor="ctr"/>
          <a:lstStyle/>
          <a:p>
            <a:pPr indent="0" marL="0">
              <a:buNone/>
            </a:pPr>
            <a:r>
              <a:rPr lang="en-US" sz="1450" b="1" dirty="0">
                <a:solidFill>
                  <a:srgbClr val="111827"/>
                </a:solidFill>
              </a:rPr>
              <a:t>Nhiều mẫu biểu</a:t>
            </a:r>
            <a:endParaRPr lang="en-US" sz="1450" dirty="0"/>
          </a:p>
        </p:txBody>
      </p:sp>
      <p:sp>
        <p:nvSpPr>
          <p:cNvPr id="12" name="Text 9"/>
          <p:cNvSpPr/>
          <p:nvPr/>
        </p:nvSpPr>
        <p:spPr>
          <a:xfrm>
            <a:off x="1371600" y="2551176"/>
            <a:ext cx="4389120" cy="256032"/>
          </a:xfrm>
          <a:prstGeom prst="rect">
            <a:avLst/>
          </a:prstGeom>
          <a:noFill/>
          <a:ln/>
        </p:spPr>
        <p:txBody>
          <a:bodyPr wrap="square" lIns="0" tIns="0" rIns="0" bIns="0" rtlCol="0" anchor="ctr">
            <a:normAutofit/>
          </a:bodyPr>
          <a:lstStyle/>
          <a:p>
            <a:pPr indent="0" marL="0">
              <a:buNone/>
            </a:pPr>
            <a:r>
              <a:rPr lang="en-US" sz="1080" dirty="0">
                <a:solidFill>
                  <a:srgbClr val="667085"/>
                </a:solidFill>
              </a:rPr>
              <a:t>Tài khoản, eBank, thuế điện tử, chữ ký số, ủy quyền, thay đổi thông tin.</a:t>
            </a:r>
            <a:endParaRPr lang="en-US" sz="1080" dirty="0"/>
          </a:p>
        </p:txBody>
      </p:sp>
      <p:sp>
        <p:nvSpPr>
          <p:cNvPr id="13" name="Text 10"/>
          <p:cNvSpPr/>
          <p:nvPr/>
        </p:nvSpPr>
        <p:spPr>
          <a:xfrm>
            <a:off x="896112" y="3035808"/>
            <a:ext cx="347472" cy="228600"/>
          </a:xfrm>
          <a:prstGeom prst="rect">
            <a:avLst/>
          </a:prstGeom>
          <a:noFill/>
          <a:ln/>
        </p:spPr>
        <p:txBody>
          <a:bodyPr wrap="square" lIns="0" tIns="0" rIns="0" bIns="0" rtlCol="0" anchor="ctr"/>
          <a:lstStyle/>
          <a:p>
            <a:pPr algn="ctr" indent="0" marL="0">
              <a:buNone/>
            </a:pPr>
            <a:r>
              <a:rPr lang="en-US" sz="1200" b="1" dirty="0">
                <a:solidFill>
                  <a:srgbClr val="E30613"/>
                </a:solidFill>
              </a:rPr>
              <a:t>02</a:t>
            </a:r>
            <a:endParaRPr lang="en-US" sz="1200" dirty="0"/>
          </a:p>
        </p:txBody>
      </p:sp>
      <p:sp>
        <p:nvSpPr>
          <p:cNvPr id="14" name="Text 11"/>
          <p:cNvSpPr/>
          <p:nvPr/>
        </p:nvSpPr>
        <p:spPr>
          <a:xfrm>
            <a:off x="1371600" y="3017520"/>
            <a:ext cx="2103120" cy="228600"/>
          </a:xfrm>
          <a:prstGeom prst="rect">
            <a:avLst/>
          </a:prstGeom>
          <a:noFill/>
          <a:ln/>
        </p:spPr>
        <p:txBody>
          <a:bodyPr wrap="square" lIns="0" tIns="0" rIns="0" bIns="0" rtlCol="0" anchor="ctr"/>
          <a:lstStyle/>
          <a:p>
            <a:pPr indent="0" marL="0">
              <a:buNone/>
            </a:pPr>
            <a:r>
              <a:rPr lang="en-US" sz="1450" b="1" dirty="0">
                <a:solidFill>
                  <a:srgbClr val="111827"/>
                </a:solidFill>
              </a:rPr>
              <a:t>Nhiều loại khách hàng</a:t>
            </a:r>
            <a:endParaRPr lang="en-US" sz="1450" dirty="0"/>
          </a:p>
        </p:txBody>
      </p:sp>
      <p:sp>
        <p:nvSpPr>
          <p:cNvPr id="15" name="Text 12"/>
          <p:cNvSpPr/>
          <p:nvPr/>
        </p:nvSpPr>
        <p:spPr>
          <a:xfrm>
            <a:off x="1371600" y="3300984"/>
            <a:ext cx="4389120" cy="256032"/>
          </a:xfrm>
          <a:prstGeom prst="rect">
            <a:avLst/>
          </a:prstGeom>
          <a:noFill/>
          <a:ln/>
        </p:spPr>
        <p:txBody>
          <a:bodyPr wrap="square" lIns="0" tIns="0" rIns="0" bIns="0" rtlCol="0" anchor="ctr">
            <a:normAutofit/>
          </a:bodyPr>
          <a:lstStyle/>
          <a:p>
            <a:pPr indent="0" marL="0">
              <a:buNone/>
            </a:pPr>
            <a:r>
              <a:rPr lang="en-US" sz="1080" dirty="0">
                <a:solidFill>
                  <a:srgbClr val="667085"/>
                </a:solidFill>
              </a:rPr>
              <a:t>CTCP, TNHH MTV, TNHH ≥2TV, DNTN, cá nhân có logic ký khác nhau.</a:t>
            </a:r>
            <a:endParaRPr lang="en-US" sz="1080" dirty="0"/>
          </a:p>
        </p:txBody>
      </p:sp>
      <p:sp>
        <p:nvSpPr>
          <p:cNvPr id="16" name="Text 13"/>
          <p:cNvSpPr/>
          <p:nvPr/>
        </p:nvSpPr>
        <p:spPr>
          <a:xfrm>
            <a:off x="896112" y="3785616"/>
            <a:ext cx="347472" cy="228600"/>
          </a:xfrm>
          <a:prstGeom prst="rect">
            <a:avLst/>
          </a:prstGeom>
          <a:noFill/>
          <a:ln/>
        </p:spPr>
        <p:txBody>
          <a:bodyPr wrap="square" lIns="0" tIns="0" rIns="0" bIns="0" rtlCol="0" anchor="ctr"/>
          <a:lstStyle/>
          <a:p>
            <a:pPr algn="ctr" indent="0" marL="0">
              <a:buNone/>
            </a:pPr>
            <a:r>
              <a:rPr lang="en-US" sz="1200" b="1" dirty="0">
                <a:solidFill>
                  <a:srgbClr val="E30613"/>
                </a:solidFill>
              </a:rPr>
              <a:t>03</a:t>
            </a:r>
            <a:endParaRPr lang="en-US" sz="1200" dirty="0"/>
          </a:p>
        </p:txBody>
      </p:sp>
      <p:sp>
        <p:nvSpPr>
          <p:cNvPr id="17" name="Text 14"/>
          <p:cNvSpPr/>
          <p:nvPr/>
        </p:nvSpPr>
        <p:spPr>
          <a:xfrm>
            <a:off x="1371600" y="3767328"/>
            <a:ext cx="2103120" cy="228600"/>
          </a:xfrm>
          <a:prstGeom prst="rect">
            <a:avLst/>
          </a:prstGeom>
          <a:noFill/>
          <a:ln/>
        </p:spPr>
        <p:txBody>
          <a:bodyPr wrap="square" lIns="0" tIns="0" rIns="0" bIns="0" rtlCol="0" anchor="ctr"/>
          <a:lstStyle/>
          <a:p>
            <a:pPr indent="0" marL="0">
              <a:buNone/>
            </a:pPr>
            <a:r>
              <a:rPr lang="en-US" sz="1450" b="1" dirty="0">
                <a:solidFill>
                  <a:srgbClr val="111827"/>
                </a:solidFill>
              </a:rPr>
              <a:t>Sai/thiếu hồ sơ</a:t>
            </a:r>
            <a:endParaRPr lang="en-US" sz="1450" dirty="0"/>
          </a:p>
        </p:txBody>
      </p:sp>
      <p:sp>
        <p:nvSpPr>
          <p:cNvPr id="18" name="Text 15"/>
          <p:cNvSpPr/>
          <p:nvPr/>
        </p:nvSpPr>
        <p:spPr>
          <a:xfrm>
            <a:off x="1371600" y="4050792"/>
            <a:ext cx="4389120" cy="256032"/>
          </a:xfrm>
          <a:prstGeom prst="rect">
            <a:avLst/>
          </a:prstGeom>
          <a:noFill/>
          <a:ln/>
        </p:spPr>
        <p:txBody>
          <a:bodyPr wrap="square" lIns="0" tIns="0" rIns="0" bIns="0" rtlCol="0" anchor="ctr">
            <a:normAutofit/>
          </a:bodyPr>
          <a:lstStyle/>
          <a:p>
            <a:pPr indent="0" marL="0">
              <a:buNone/>
            </a:pPr>
            <a:r>
              <a:rPr lang="en-US" sz="1080" dirty="0">
                <a:solidFill>
                  <a:srgbClr val="667085"/>
                </a:solidFill>
              </a:rPr>
              <a:t>RM phải rà thủ công; khách hàng ký lại, bổ sung nhiều vòng.</a:t>
            </a:r>
            <a:endParaRPr lang="en-US" sz="1080" dirty="0"/>
          </a:p>
        </p:txBody>
      </p:sp>
      <p:sp>
        <p:nvSpPr>
          <p:cNvPr id="19" name="Shape 16"/>
          <p:cNvSpPr/>
          <p:nvPr/>
        </p:nvSpPr>
        <p:spPr>
          <a:xfrm>
            <a:off x="896112" y="4846320"/>
            <a:ext cx="4846320" cy="411480"/>
          </a:xfrm>
          <a:prstGeom prst="roundRect">
            <a:avLst>
              <a:gd name="adj" fmla="val 13333"/>
            </a:avLst>
          </a:prstGeom>
          <a:solidFill>
            <a:srgbClr val="FCE8EA"/>
          </a:solidFill>
          <a:ln w="12700">
            <a:solidFill>
              <a:srgbClr val="F4C7CB"/>
            </a:solidFill>
            <a:prstDash val="solid"/>
          </a:ln>
        </p:spPr>
      </p:sp>
      <p:sp>
        <p:nvSpPr>
          <p:cNvPr id="20" name="Text 17"/>
          <p:cNvSpPr/>
          <p:nvPr/>
        </p:nvSpPr>
        <p:spPr>
          <a:xfrm>
            <a:off x="1033272" y="4974336"/>
            <a:ext cx="4572000" cy="155448"/>
          </a:xfrm>
          <a:prstGeom prst="rect">
            <a:avLst/>
          </a:prstGeom>
          <a:noFill/>
          <a:ln/>
        </p:spPr>
        <p:txBody>
          <a:bodyPr wrap="square" lIns="0" tIns="0" rIns="0" bIns="0" rtlCol="0" anchor="ctr">
            <a:normAutofit/>
          </a:bodyPr>
          <a:lstStyle/>
          <a:p>
            <a:pPr indent="0" marL="0">
              <a:buNone/>
            </a:pPr>
            <a:r>
              <a:rPr lang="en-US" sz="1240" b="1" dirty="0">
                <a:solidFill>
                  <a:srgbClr val="E30613"/>
                </a:solidFill>
                <a:latin typeface="Arial" pitchFamily="34" charset="0"/>
                <a:ea typeface="Arial" pitchFamily="34" charset="-122"/>
                <a:cs typeface="Arial" pitchFamily="34" charset="-120"/>
              </a:rPr>
              <a:t>Kết quả: thời gian phục vụ dài, trải nghiệm không liền mạch, rủi ro sai quyền eBank hoặc thiếu chữ ký.</a:t>
            </a:r>
            <a:endParaRPr lang="en-US" sz="12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4048" y="201168"/>
            <a:ext cx="2103120" cy="201168"/>
          </a:xfrm>
          <a:prstGeom prst="rect">
            <a:avLst/>
          </a:prstGeom>
          <a:noFill/>
          <a:ln/>
        </p:spPr>
        <p:txBody>
          <a:bodyPr wrap="square" lIns="0" tIns="0" rIns="0" bIns="0" rtlCol="0" anchor="ctr"/>
          <a:lstStyle/>
          <a:p>
            <a:pPr indent="0" marL="0">
              <a:buNone/>
            </a:pPr>
            <a:r>
              <a:rPr lang="en-US" sz="950" b="1" dirty="0">
                <a:solidFill>
                  <a:srgbClr val="E30613"/>
                </a:solidFill>
                <a:latin typeface="Arial" pitchFamily="34" charset="0"/>
                <a:ea typeface="Arial" pitchFamily="34" charset="-122"/>
                <a:cs typeface="Arial" pitchFamily="34" charset="-120"/>
              </a:rPr>
              <a:t>MSB SmartForm AI</a:t>
            </a:r>
            <a:endParaRPr lang="en-US" sz="950" dirty="0"/>
          </a:p>
        </p:txBody>
      </p:sp>
      <p:sp>
        <p:nvSpPr>
          <p:cNvPr id="3" name="Text 1"/>
          <p:cNvSpPr/>
          <p:nvPr/>
        </p:nvSpPr>
        <p:spPr>
          <a:xfrm>
            <a:off x="7635240" y="201168"/>
            <a:ext cx="3977640" cy="201168"/>
          </a:xfrm>
          <a:prstGeom prst="rect">
            <a:avLst/>
          </a:prstGeom>
          <a:noFill/>
          <a:ln/>
        </p:spPr>
        <p:txBody>
          <a:bodyPr wrap="square" lIns="0" tIns="0" rIns="0" bIns="0" rtlCol="0" anchor="ctr"/>
          <a:lstStyle/>
          <a:p>
            <a:pPr algn="r" indent="0" marL="0">
              <a:buNone/>
            </a:pPr>
            <a:r>
              <a:rPr lang="en-US" sz="880" dirty="0">
                <a:solidFill>
                  <a:srgbClr val="667085"/>
                </a:solidFill>
                <a:latin typeface="Arial" pitchFamily="34" charset="0"/>
                <a:ea typeface="Arial" pitchFamily="34" charset="-122"/>
                <a:cs typeface="Arial" pitchFamily="34" charset="-120"/>
              </a:rPr>
              <a:t>AI FOR CUSTOMERS • MSB AI Hackathon 2026</a:t>
            </a:r>
            <a:endParaRPr lang="en-US" sz="880" dirty="0"/>
          </a:p>
        </p:txBody>
      </p:sp>
      <p:sp>
        <p:nvSpPr>
          <p:cNvPr id="4" name="Shape 2"/>
          <p:cNvSpPr/>
          <p:nvPr/>
        </p:nvSpPr>
        <p:spPr>
          <a:xfrm>
            <a:off x="384048" y="502920"/>
            <a:ext cx="11430000" cy="0"/>
          </a:xfrm>
          <a:prstGeom prst="line">
            <a:avLst/>
          </a:prstGeom>
          <a:noFill/>
          <a:ln w="9525">
            <a:solidFill>
              <a:srgbClr val="E5E7EB"/>
            </a:solidFill>
            <a:prstDash val="solid"/>
          </a:ln>
        </p:spPr>
      </p:sp>
      <p:sp>
        <p:nvSpPr>
          <p:cNvPr id="5" name="Text 3"/>
          <p:cNvSpPr/>
          <p:nvPr/>
        </p:nvSpPr>
        <p:spPr>
          <a:xfrm>
            <a:off x="658368" y="685800"/>
            <a:ext cx="5715000" cy="393192"/>
          </a:xfrm>
          <a:prstGeom prst="rect">
            <a:avLst/>
          </a:prstGeom>
          <a:noFill/>
          <a:ln/>
        </p:spPr>
        <p:txBody>
          <a:bodyPr wrap="square" lIns="0" tIns="0" rIns="0" bIns="0" rtlCol="0" anchor="ctr"/>
          <a:lstStyle/>
          <a:p>
            <a:pPr indent="0" marL="0">
              <a:buNone/>
            </a:pPr>
            <a:r>
              <a:rPr lang="en-US" sz="2400" b="1" dirty="0">
                <a:solidFill>
                  <a:srgbClr val="0B1F3A"/>
                </a:solidFill>
                <a:latin typeface="Arial" pitchFamily="34" charset="0"/>
                <a:ea typeface="Arial" pitchFamily="34" charset="-122"/>
                <a:cs typeface="Arial" pitchFamily="34" charset="-120"/>
              </a:rPr>
              <a:t>Giải pháp: một Copilot cho toàn bộ vòng đời biểu mẫu</a:t>
            </a:r>
            <a:endParaRPr lang="en-US" sz="2400" dirty="0"/>
          </a:p>
        </p:txBody>
      </p:sp>
      <p:sp>
        <p:nvSpPr>
          <p:cNvPr id="6" name="Text 4"/>
          <p:cNvSpPr/>
          <p:nvPr/>
        </p:nvSpPr>
        <p:spPr>
          <a:xfrm>
            <a:off x="11311128" y="6355080"/>
            <a:ext cx="411480" cy="182880"/>
          </a:xfrm>
          <a:prstGeom prst="rect">
            <a:avLst/>
          </a:prstGeom>
          <a:noFill/>
          <a:ln/>
        </p:spPr>
        <p:txBody>
          <a:bodyPr wrap="square" lIns="0" tIns="0" rIns="0" bIns="0" rtlCol="0" anchor="ctr"/>
          <a:lstStyle/>
          <a:p>
            <a:pPr algn="r" indent="0" marL="0">
              <a:buNone/>
            </a:pPr>
            <a:r>
              <a:rPr lang="en-US" sz="900" dirty="0">
                <a:solidFill>
                  <a:srgbClr val="98A2B3"/>
                </a:solidFill>
              </a:rPr>
              <a:t>03</a:t>
            </a:r>
            <a:endParaRPr lang="en-US" sz="900" dirty="0"/>
          </a:p>
        </p:txBody>
      </p:sp>
      <p:pic>
        <p:nvPicPr>
          <p:cNvPr id="7" name="Image 0" descr="/mnt/data/wide_isometric_vector_3d_rendered_fintech_ai_workf_batch_2.png">    </p:cNvPr>
          <p:cNvPicPr>
            <a:picLocks noChangeAspect="1"/>
          </p:cNvPicPr>
          <p:nvPr/>
        </p:nvPicPr>
        <p:blipFill>
          <a:blip r:embed="rId1"/>
          <a:srcRect l="8000" r="30896" t="0" b="0"/>
          <a:stretch/>
        </p:blipFill>
        <p:spPr>
          <a:xfrm>
            <a:off x="320040" y="1170432"/>
            <a:ext cx="5212080" cy="4800600"/>
          </a:xfrm>
          <a:prstGeom prst="rect">
            <a:avLst/>
          </a:prstGeom>
        </p:spPr>
      </p:pic>
      <p:sp>
        <p:nvSpPr>
          <p:cNvPr id="8" name="Text 5"/>
          <p:cNvSpPr/>
          <p:nvPr/>
        </p:nvSpPr>
        <p:spPr>
          <a:xfrm>
            <a:off x="5897880" y="1234440"/>
            <a:ext cx="5394960" cy="457200"/>
          </a:xfrm>
          <a:prstGeom prst="rect">
            <a:avLst/>
          </a:prstGeom>
          <a:noFill/>
          <a:ln/>
        </p:spPr>
        <p:txBody>
          <a:bodyPr wrap="square" lIns="127" tIns="127" rIns="127" bIns="127" rtlCol="0" anchor="ctr">
            <a:normAutofit/>
          </a:bodyPr>
          <a:lstStyle/>
          <a:p>
            <a:pPr indent="0" marL="0">
              <a:buNone/>
            </a:pPr>
            <a:r>
              <a:rPr lang="en-US" sz="2800" b="1" dirty="0">
                <a:solidFill>
                  <a:srgbClr val="0B1F3A"/>
                </a:solidFill>
                <a:latin typeface="Arial" pitchFamily="34" charset="0"/>
                <a:ea typeface="Arial" pitchFamily="34" charset="-122"/>
                <a:cs typeface="Arial" pitchFamily="34" charset="-120"/>
              </a:rPr>
              <a:t>Khách hàng chỉ cần nói nhu cầu.</a:t>
            </a:r>
            <a:endParaRPr lang="en-US" sz="2800" dirty="0"/>
          </a:p>
        </p:txBody>
      </p:sp>
      <p:sp>
        <p:nvSpPr>
          <p:cNvPr id="9" name="Text 6"/>
          <p:cNvSpPr/>
          <p:nvPr/>
        </p:nvSpPr>
        <p:spPr>
          <a:xfrm>
            <a:off x="5916168" y="1920240"/>
            <a:ext cx="5120640" cy="621792"/>
          </a:xfrm>
          <a:prstGeom prst="rect">
            <a:avLst/>
          </a:prstGeom>
          <a:noFill/>
          <a:ln/>
        </p:spPr>
        <p:txBody>
          <a:bodyPr wrap="square" lIns="508" tIns="508" rIns="508" bIns="508" rtlCol="0" anchor="ctr">
            <a:normAutofit/>
          </a:bodyPr>
          <a:lstStyle/>
          <a:p>
            <a:pPr indent="0" marL="0">
              <a:buNone/>
            </a:pPr>
            <a:r>
              <a:rPr lang="en-US" sz="1550" dirty="0">
                <a:solidFill>
                  <a:srgbClr val="111827"/>
                </a:solidFill>
                <a:latin typeface="Arial" pitchFamily="34" charset="0"/>
                <a:ea typeface="Arial" pitchFamily="34" charset="-122"/>
                <a:cs typeface="Arial" pitchFamily="34" charset="-120"/>
              </a:rPr>
              <a:t>Agent tự làm phần còn lại: hiểu nghiệp vụ, tìm đúng mẫu, hỏi dữ liệu thiếu, điền form, kiểm tra logic và hướng dẫn ký/nộp.</a:t>
            </a:r>
            <a:endParaRPr lang="en-US" sz="1550" dirty="0"/>
          </a:p>
        </p:txBody>
      </p:sp>
      <p:sp>
        <p:nvSpPr>
          <p:cNvPr id="10" name="Shape 7"/>
          <p:cNvSpPr/>
          <p:nvPr/>
        </p:nvSpPr>
        <p:spPr>
          <a:xfrm>
            <a:off x="5961888" y="2880360"/>
            <a:ext cx="2057400" cy="566928"/>
          </a:xfrm>
          <a:prstGeom prst="roundRect">
            <a:avLst>
              <a:gd name="adj" fmla="val 8065"/>
            </a:avLst>
          </a:prstGeom>
          <a:solidFill>
            <a:srgbClr val="F8FAFC"/>
          </a:solidFill>
          <a:ln w="12700">
            <a:solidFill>
              <a:srgbClr val="E5E7EB"/>
            </a:solidFill>
            <a:prstDash val="solid"/>
          </a:ln>
        </p:spPr>
      </p:sp>
      <p:sp>
        <p:nvSpPr>
          <p:cNvPr id="11" name="Text 8"/>
          <p:cNvSpPr/>
          <p:nvPr/>
        </p:nvSpPr>
        <p:spPr>
          <a:xfrm>
            <a:off x="6071616" y="3026664"/>
            <a:ext cx="219456" cy="182880"/>
          </a:xfrm>
          <a:prstGeom prst="rect">
            <a:avLst/>
          </a:prstGeom>
          <a:noFill/>
          <a:ln/>
        </p:spPr>
        <p:txBody>
          <a:bodyPr wrap="square" lIns="0" tIns="0" rIns="0" bIns="0" rtlCol="0" anchor="ctr"/>
          <a:lstStyle/>
          <a:p>
            <a:pPr algn="ctr" indent="0" marL="0">
              <a:buNone/>
            </a:pPr>
            <a:r>
              <a:rPr lang="en-US" sz="1200" b="1" dirty="0">
                <a:solidFill>
                  <a:srgbClr val="E30613"/>
                </a:solidFill>
              </a:rPr>
              <a:t>1</a:t>
            </a:r>
            <a:endParaRPr lang="en-US" sz="1200" dirty="0"/>
          </a:p>
        </p:txBody>
      </p:sp>
      <p:sp>
        <p:nvSpPr>
          <p:cNvPr id="12" name="Text 9"/>
          <p:cNvSpPr/>
          <p:nvPr/>
        </p:nvSpPr>
        <p:spPr>
          <a:xfrm>
            <a:off x="6391656" y="2980944"/>
            <a:ext cx="1490472" cy="164592"/>
          </a:xfrm>
          <a:prstGeom prst="rect">
            <a:avLst/>
          </a:prstGeom>
          <a:noFill/>
          <a:ln/>
        </p:spPr>
        <p:txBody>
          <a:bodyPr wrap="square" lIns="0" tIns="0" rIns="0" bIns="0" rtlCol="0" anchor="ctr">
            <a:normAutofit/>
          </a:bodyPr>
          <a:lstStyle/>
          <a:p>
            <a:pPr indent="0" marL="0">
              <a:buNone/>
            </a:pPr>
            <a:r>
              <a:rPr lang="en-US" sz="1150" b="1" dirty="0">
                <a:solidFill>
                  <a:srgbClr val="111827"/>
                </a:solidFill>
              </a:rPr>
              <a:t>Hiểu nhu cầu</a:t>
            </a:r>
            <a:endParaRPr lang="en-US" sz="1150" dirty="0"/>
          </a:p>
        </p:txBody>
      </p:sp>
      <p:sp>
        <p:nvSpPr>
          <p:cNvPr id="13" name="Text 10"/>
          <p:cNvSpPr/>
          <p:nvPr/>
        </p:nvSpPr>
        <p:spPr>
          <a:xfrm>
            <a:off x="6391656" y="3191256"/>
            <a:ext cx="1490472" cy="128016"/>
          </a:xfrm>
          <a:prstGeom prst="rect">
            <a:avLst/>
          </a:prstGeom>
          <a:noFill/>
          <a:ln/>
        </p:spPr>
        <p:txBody>
          <a:bodyPr wrap="square" lIns="0" tIns="0" rIns="0" bIns="0" rtlCol="0" anchor="ctr"/>
          <a:lstStyle/>
          <a:p>
            <a:pPr indent="0" marL="0">
              <a:buNone/>
            </a:pPr>
            <a:r>
              <a:rPr lang="en-US" sz="850" dirty="0">
                <a:solidFill>
                  <a:srgbClr val="667085"/>
                </a:solidFill>
              </a:rPr>
              <a:t>Natural language</a:t>
            </a:r>
            <a:endParaRPr lang="en-US" sz="850" dirty="0"/>
          </a:p>
        </p:txBody>
      </p:sp>
      <p:sp>
        <p:nvSpPr>
          <p:cNvPr id="14" name="Shape 11"/>
          <p:cNvSpPr/>
          <p:nvPr/>
        </p:nvSpPr>
        <p:spPr>
          <a:xfrm>
            <a:off x="8293608" y="2880360"/>
            <a:ext cx="2057400" cy="566928"/>
          </a:xfrm>
          <a:prstGeom prst="roundRect">
            <a:avLst>
              <a:gd name="adj" fmla="val 8065"/>
            </a:avLst>
          </a:prstGeom>
          <a:solidFill>
            <a:srgbClr val="F8FAFC"/>
          </a:solidFill>
          <a:ln w="12700">
            <a:solidFill>
              <a:srgbClr val="E5E7EB"/>
            </a:solidFill>
            <a:prstDash val="solid"/>
          </a:ln>
        </p:spPr>
      </p:sp>
      <p:sp>
        <p:nvSpPr>
          <p:cNvPr id="15" name="Text 12"/>
          <p:cNvSpPr/>
          <p:nvPr/>
        </p:nvSpPr>
        <p:spPr>
          <a:xfrm>
            <a:off x="8403336" y="3026664"/>
            <a:ext cx="219456" cy="182880"/>
          </a:xfrm>
          <a:prstGeom prst="rect">
            <a:avLst/>
          </a:prstGeom>
          <a:noFill/>
          <a:ln/>
        </p:spPr>
        <p:txBody>
          <a:bodyPr wrap="square" lIns="0" tIns="0" rIns="0" bIns="0" rtlCol="0" anchor="ctr"/>
          <a:lstStyle/>
          <a:p>
            <a:pPr algn="ctr" indent="0" marL="0">
              <a:buNone/>
            </a:pPr>
            <a:r>
              <a:rPr lang="en-US" sz="1200" b="1" dirty="0">
                <a:solidFill>
                  <a:srgbClr val="E30613"/>
                </a:solidFill>
              </a:rPr>
              <a:t>2</a:t>
            </a:r>
            <a:endParaRPr lang="en-US" sz="1200" dirty="0"/>
          </a:p>
        </p:txBody>
      </p:sp>
      <p:sp>
        <p:nvSpPr>
          <p:cNvPr id="16" name="Text 13"/>
          <p:cNvSpPr/>
          <p:nvPr/>
        </p:nvSpPr>
        <p:spPr>
          <a:xfrm>
            <a:off x="8723376" y="2980944"/>
            <a:ext cx="1490472" cy="164592"/>
          </a:xfrm>
          <a:prstGeom prst="rect">
            <a:avLst/>
          </a:prstGeom>
          <a:noFill/>
          <a:ln/>
        </p:spPr>
        <p:txBody>
          <a:bodyPr wrap="square" lIns="0" tIns="0" rIns="0" bIns="0" rtlCol="0" anchor="ctr">
            <a:normAutofit/>
          </a:bodyPr>
          <a:lstStyle/>
          <a:p>
            <a:pPr indent="0" marL="0">
              <a:buNone/>
            </a:pPr>
            <a:r>
              <a:rPr lang="en-US" sz="1150" b="1" dirty="0">
                <a:solidFill>
                  <a:srgbClr val="111827"/>
                </a:solidFill>
              </a:rPr>
              <a:t>Chọn mẫu MSB</a:t>
            </a:r>
            <a:endParaRPr lang="en-US" sz="1150" dirty="0"/>
          </a:p>
        </p:txBody>
      </p:sp>
      <p:sp>
        <p:nvSpPr>
          <p:cNvPr id="17" name="Text 14"/>
          <p:cNvSpPr/>
          <p:nvPr/>
        </p:nvSpPr>
        <p:spPr>
          <a:xfrm>
            <a:off x="8723376" y="3191256"/>
            <a:ext cx="1490472" cy="128016"/>
          </a:xfrm>
          <a:prstGeom prst="rect">
            <a:avLst/>
          </a:prstGeom>
          <a:noFill/>
          <a:ln/>
        </p:spPr>
        <p:txBody>
          <a:bodyPr wrap="square" lIns="0" tIns="0" rIns="0" bIns="0" rtlCol="0" anchor="ctr"/>
          <a:lstStyle/>
          <a:p>
            <a:pPr indent="0" marL="0">
              <a:buNone/>
            </a:pPr>
            <a:r>
              <a:rPr lang="en-US" sz="850" dirty="0">
                <a:solidFill>
                  <a:srgbClr val="667085"/>
                </a:solidFill>
              </a:rPr>
              <a:t>Form Registry</a:t>
            </a:r>
            <a:endParaRPr lang="en-US" sz="850" dirty="0"/>
          </a:p>
        </p:txBody>
      </p:sp>
      <p:sp>
        <p:nvSpPr>
          <p:cNvPr id="18" name="Shape 15"/>
          <p:cNvSpPr/>
          <p:nvPr/>
        </p:nvSpPr>
        <p:spPr>
          <a:xfrm>
            <a:off x="5961888" y="3739896"/>
            <a:ext cx="2057400" cy="566928"/>
          </a:xfrm>
          <a:prstGeom prst="roundRect">
            <a:avLst>
              <a:gd name="adj" fmla="val 8065"/>
            </a:avLst>
          </a:prstGeom>
          <a:solidFill>
            <a:srgbClr val="F8FAFC"/>
          </a:solidFill>
          <a:ln w="12700">
            <a:solidFill>
              <a:srgbClr val="E5E7EB"/>
            </a:solidFill>
            <a:prstDash val="solid"/>
          </a:ln>
        </p:spPr>
      </p:sp>
      <p:sp>
        <p:nvSpPr>
          <p:cNvPr id="19" name="Text 16"/>
          <p:cNvSpPr/>
          <p:nvPr/>
        </p:nvSpPr>
        <p:spPr>
          <a:xfrm>
            <a:off x="6071616" y="3886200"/>
            <a:ext cx="219456" cy="182880"/>
          </a:xfrm>
          <a:prstGeom prst="rect">
            <a:avLst/>
          </a:prstGeom>
          <a:noFill/>
          <a:ln/>
        </p:spPr>
        <p:txBody>
          <a:bodyPr wrap="square" lIns="0" tIns="0" rIns="0" bIns="0" rtlCol="0" anchor="ctr"/>
          <a:lstStyle/>
          <a:p>
            <a:pPr algn="ctr" indent="0" marL="0">
              <a:buNone/>
            </a:pPr>
            <a:r>
              <a:rPr lang="en-US" sz="1200" b="1" dirty="0">
                <a:solidFill>
                  <a:srgbClr val="E30613"/>
                </a:solidFill>
              </a:rPr>
              <a:t>3</a:t>
            </a:r>
            <a:endParaRPr lang="en-US" sz="1200" dirty="0"/>
          </a:p>
        </p:txBody>
      </p:sp>
      <p:sp>
        <p:nvSpPr>
          <p:cNvPr id="20" name="Text 17"/>
          <p:cNvSpPr/>
          <p:nvPr/>
        </p:nvSpPr>
        <p:spPr>
          <a:xfrm>
            <a:off x="6391656" y="3840480"/>
            <a:ext cx="1490472" cy="164592"/>
          </a:xfrm>
          <a:prstGeom prst="rect">
            <a:avLst/>
          </a:prstGeom>
          <a:noFill/>
          <a:ln/>
        </p:spPr>
        <p:txBody>
          <a:bodyPr wrap="square" lIns="0" tIns="0" rIns="0" bIns="0" rtlCol="0" anchor="ctr">
            <a:normAutofit/>
          </a:bodyPr>
          <a:lstStyle/>
          <a:p>
            <a:pPr indent="0" marL="0">
              <a:buNone/>
            </a:pPr>
            <a:r>
              <a:rPr lang="en-US" sz="1150" b="1" dirty="0">
                <a:solidFill>
                  <a:srgbClr val="111827"/>
                </a:solidFill>
              </a:rPr>
              <a:t>Điền hồ sơ</a:t>
            </a:r>
            <a:endParaRPr lang="en-US" sz="1150" dirty="0"/>
          </a:p>
        </p:txBody>
      </p:sp>
      <p:sp>
        <p:nvSpPr>
          <p:cNvPr id="21" name="Text 18"/>
          <p:cNvSpPr/>
          <p:nvPr/>
        </p:nvSpPr>
        <p:spPr>
          <a:xfrm>
            <a:off x="6391656" y="4050792"/>
            <a:ext cx="1490472" cy="128016"/>
          </a:xfrm>
          <a:prstGeom prst="rect">
            <a:avLst/>
          </a:prstGeom>
          <a:noFill/>
          <a:ln/>
        </p:spPr>
        <p:txBody>
          <a:bodyPr wrap="square" lIns="0" tIns="0" rIns="0" bIns="0" rtlCol="0" anchor="ctr"/>
          <a:lstStyle/>
          <a:p>
            <a:pPr indent="0" marL="0">
              <a:buNone/>
            </a:pPr>
            <a:r>
              <a:rPr lang="en-US" sz="850" dirty="0">
                <a:solidFill>
                  <a:srgbClr val="667085"/>
                </a:solidFill>
              </a:rPr>
              <a:t>Drafting Engine</a:t>
            </a:r>
            <a:endParaRPr lang="en-US" sz="850" dirty="0"/>
          </a:p>
        </p:txBody>
      </p:sp>
      <p:sp>
        <p:nvSpPr>
          <p:cNvPr id="22" name="Shape 19"/>
          <p:cNvSpPr/>
          <p:nvPr/>
        </p:nvSpPr>
        <p:spPr>
          <a:xfrm>
            <a:off x="8293608" y="3739896"/>
            <a:ext cx="2057400" cy="566928"/>
          </a:xfrm>
          <a:prstGeom prst="roundRect">
            <a:avLst>
              <a:gd name="adj" fmla="val 8065"/>
            </a:avLst>
          </a:prstGeom>
          <a:solidFill>
            <a:srgbClr val="F8FAFC"/>
          </a:solidFill>
          <a:ln w="12700">
            <a:solidFill>
              <a:srgbClr val="E5E7EB"/>
            </a:solidFill>
            <a:prstDash val="solid"/>
          </a:ln>
        </p:spPr>
      </p:sp>
      <p:sp>
        <p:nvSpPr>
          <p:cNvPr id="23" name="Text 20"/>
          <p:cNvSpPr/>
          <p:nvPr/>
        </p:nvSpPr>
        <p:spPr>
          <a:xfrm>
            <a:off x="8403336" y="3886200"/>
            <a:ext cx="219456" cy="182880"/>
          </a:xfrm>
          <a:prstGeom prst="rect">
            <a:avLst/>
          </a:prstGeom>
          <a:noFill/>
          <a:ln/>
        </p:spPr>
        <p:txBody>
          <a:bodyPr wrap="square" lIns="0" tIns="0" rIns="0" bIns="0" rtlCol="0" anchor="ctr"/>
          <a:lstStyle/>
          <a:p>
            <a:pPr algn="ctr" indent="0" marL="0">
              <a:buNone/>
            </a:pPr>
            <a:r>
              <a:rPr lang="en-US" sz="1200" b="1" dirty="0">
                <a:solidFill>
                  <a:srgbClr val="E30613"/>
                </a:solidFill>
              </a:rPr>
              <a:t>4</a:t>
            </a:r>
            <a:endParaRPr lang="en-US" sz="1200" dirty="0"/>
          </a:p>
        </p:txBody>
      </p:sp>
      <p:sp>
        <p:nvSpPr>
          <p:cNvPr id="24" name="Text 21"/>
          <p:cNvSpPr/>
          <p:nvPr/>
        </p:nvSpPr>
        <p:spPr>
          <a:xfrm>
            <a:off x="8723376" y="3840480"/>
            <a:ext cx="1490472" cy="164592"/>
          </a:xfrm>
          <a:prstGeom prst="rect">
            <a:avLst/>
          </a:prstGeom>
          <a:noFill/>
          <a:ln/>
        </p:spPr>
        <p:txBody>
          <a:bodyPr wrap="square" lIns="0" tIns="0" rIns="0" bIns="0" rtlCol="0" anchor="ctr">
            <a:normAutofit/>
          </a:bodyPr>
          <a:lstStyle/>
          <a:p>
            <a:pPr indent="0" marL="0">
              <a:buNone/>
            </a:pPr>
            <a:r>
              <a:rPr lang="en-US" sz="1150" b="1" dirty="0">
                <a:solidFill>
                  <a:srgbClr val="111827"/>
                </a:solidFill>
              </a:rPr>
              <a:t>Kiểm tra chéo</a:t>
            </a:r>
            <a:endParaRPr lang="en-US" sz="1150" dirty="0"/>
          </a:p>
        </p:txBody>
      </p:sp>
      <p:sp>
        <p:nvSpPr>
          <p:cNvPr id="25" name="Text 22"/>
          <p:cNvSpPr/>
          <p:nvPr/>
        </p:nvSpPr>
        <p:spPr>
          <a:xfrm>
            <a:off x="8723376" y="4050792"/>
            <a:ext cx="1490472" cy="128016"/>
          </a:xfrm>
          <a:prstGeom prst="rect">
            <a:avLst/>
          </a:prstGeom>
          <a:noFill/>
          <a:ln/>
        </p:spPr>
        <p:txBody>
          <a:bodyPr wrap="square" lIns="0" tIns="0" rIns="0" bIns="0" rtlCol="0" anchor="ctr"/>
          <a:lstStyle/>
          <a:p>
            <a:pPr indent="0" marL="0">
              <a:buNone/>
            </a:pPr>
            <a:r>
              <a:rPr lang="en-US" sz="850" dirty="0">
                <a:solidFill>
                  <a:srgbClr val="667085"/>
                </a:solidFill>
              </a:rPr>
              <a:t>Validation</a:t>
            </a:r>
            <a:endParaRPr lang="en-US" sz="850" dirty="0"/>
          </a:p>
        </p:txBody>
      </p:sp>
      <p:sp>
        <p:nvSpPr>
          <p:cNvPr id="26" name="Shape 23"/>
          <p:cNvSpPr/>
          <p:nvPr/>
        </p:nvSpPr>
        <p:spPr>
          <a:xfrm>
            <a:off x="5961888" y="4599432"/>
            <a:ext cx="4663440" cy="566928"/>
          </a:xfrm>
          <a:prstGeom prst="roundRect">
            <a:avLst>
              <a:gd name="adj" fmla="val 8065"/>
            </a:avLst>
          </a:prstGeom>
          <a:solidFill>
            <a:srgbClr val="0B1F3A"/>
          </a:solidFill>
          <a:ln w="12700">
            <a:solidFill>
              <a:srgbClr val="0B1F3A"/>
            </a:solidFill>
            <a:prstDash val="solid"/>
          </a:ln>
        </p:spPr>
      </p:sp>
      <p:sp>
        <p:nvSpPr>
          <p:cNvPr id="27" name="Text 24"/>
          <p:cNvSpPr/>
          <p:nvPr/>
        </p:nvSpPr>
        <p:spPr>
          <a:xfrm>
            <a:off x="6071616" y="4745736"/>
            <a:ext cx="219456" cy="182880"/>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28" name="Text 25"/>
          <p:cNvSpPr/>
          <p:nvPr/>
        </p:nvSpPr>
        <p:spPr>
          <a:xfrm>
            <a:off x="6391656" y="4700016"/>
            <a:ext cx="4096512" cy="164592"/>
          </a:xfrm>
          <a:prstGeom prst="rect">
            <a:avLst/>
          </a:prstGeom>
          <a:noFill/>
          <a:ln/>
        </p:spPr>
        <p:txBody>
          <a:bodyPr wrap="square" lIns="0" tIns="0" rIns="0" bIns="0" rtlCol="0" anchor="ctr">
            <a:normAutofit/>
          </a:bodyPr>
          <a:lstStyle/>
          <a:p>
            <a:pPr indent="0" marL="0">
              <a:buNone/>
            </a:pPr>
            <a:r>
              <a:rPr lang="en-US" sz="1150" b="1" dirty="0">
                <a:solidFill>
                  <a:srgbClr val="FFFFFF"/>
                </a:solidFill>
              </a:rPr>
              <a:t>Ready / Missing / Review</a:t>
            </a:r>
            <a:endParaRPr lang="en-US" sz="1150" dirty="0"/>
          </a:p>
        </p:txBody>
      </p:sp>
      <p:sp>
        <p:nvSpPr>
          <p:cNvPr id="29" name="Text 26"/>
          <p:cNvSpPr/>
          <p:nvPr/>
        </p:nvSpPr>
        <p:spPr>
          <a:xfrm>
            <a:off x="6391656" y="4910328"/>
            <a:ext cx="4096512" cy="128016"/>
          </a:xfrm>
          <a:prstGeom prst="rect">
            <a:avLst/>
          </a:prstGeom>
          <a:noFill/>
          <a:ln/>
        </p:spPr>
        <p:txBody>
          <a:bodyPr wrap="square" lIns="0" tIns="0" rIns="0" bIns="0" rtlCol="0" anchor="ctr"/>
          <a:lstStyle/>
          <a:p>
            <a:pPr indent="0" marL="0">
              <a:buNone/>
            </a:pPr>
            <a:r>
              <a:rPr lang="en-US" sz="850" dirty="0">
                <a:solidFill>
                  <a:srgbClr val="C7D2FE"/>
                </a:solidFill>
              </a:rPr>
              <a:t>Checklist</a:t>
            </a:r>
            <a:endParaRPr lang="en-US" sz="850" dirty="0"/>
          </a:p>
        </p:txBody>
      </p:sp>
      <p:sp>
        <p:nvSpPr>
          <p:cNvPr id="30" name="Shape 27"/>
          <p:cNvSpPr/>
          <p:nvPr/>
        </p:nvSpPr>
        <p:spPr>
          <a:xfrm>
            <a:off x="5989320" y="5806440"/>
            <a:ext cx="5120640" cy="338328"/>
          </a:xfrm>
          <a:prstGeom prst="roundRect">
            <a:avLst>
              <a:gd name="adj" fmla="val 10811"/>
            </a:avLst>
          </a:prstGeom>
          <a:solidFill>
            <a:srgbClr val="FCE8EA"/>
          </a:solidFill>
          <a:ln w="17780">
            <a:solidFill>
              <a:srgbClr val="E30613"/>
            </a:solidFill>
            <a:prstDash val="solid"/>
          </a:ln>
        </p:spPr>
      </p:sp>
      <p:sp>
        <p:nvSpPr>
          <p:cNvPr id="31" name="Text 28"/>
          <p:cNvSpPr/>
          <p:nvPr/>
        </p:nvSpPr>
        <p:spPr>
          <a:xfrm>
            <a:off x="6062472" y="5870448"/>
            <a:ext cx="4974336" cy="146304"/>
          </a:xfrm>
          <a:prstGeom prst="rect">
            <a:avLst/>
          </a:prstGeom>
          <a:noFill/>
          <a:ln/>
        </p:spPr>
        <p:txBody>
          <a:bodyPr wrap="square" lIns="0" tIns="0" rIns="0" bIns="0" rtlCol="0" anchor="ctr">
            <a:normAutofit/>
          </a:bodyPr>
          <a:lstStyle/>
          <a:p>
            <a:pPr algn="ctr" indent="0" marL="0">
              <a:buNone/>
            </a:pPr>
            <a:r>
              <a:rPr lang="en-US" sz="940" b="1" dirty="0">
                <a:solidFill>
                  <a:srgbClr val="E30613"/>
                </a:solidFill>
              </a:rPr>
              <a:t>SmartForm AI = Form Copilot + Banking Workflow + Compliance Guardrails</a:t>
            </a:r>
            <a:endParaRPr lang="en-US" sz="9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84048" y="201168"/>
            <a:ext cx="2103120" cy="201168"/>
          </a:xfrm>
          <a:prstGeom prst="rect">
            <a:avLst/>
          </a:prstGeom>
          <a:noFill/>
          <a:ln/>
        </p:spPr>
        <p:txBody>
          <a:bodyPr wrap="square" lIns="0" tIns="0" rIns="0" bIns="0" rtlCol="0" anchor="ctr"/>
          <a:lstStyle/>
          <a:p>
            <a:pPr indent="0" marL="0">
              <a:buNone/>
            </a:pPr>
            <a:r>
              <a:rPr lang="en-US" sz="950" b="1" dirty="0">
                <a:solidFill>
                  <a:srgbClr val="E30613"/>
                </a:solidFill>
                <a:latin typeface="Arial" pitchFamily="34" charset="0"/>
                <a:ea typeface="Arial" pitchFamily="34" charset="-122"/>
                <a:cs typeface="Arial" pitchFamily="34" charset="-120"/>
              </a:rPr>
              <a:t>MSB SmartForm AI</a:t>
            </a:r>
            <a:endParaRPr lang="en-US" sz="950" dirty="0"/>
          </a:p>
        </p:txBody>
      </p:sp>
      <p:sp>
        <p:nvSpPr>
          <p:cNvPr id="3" name="Text 1"/>
          <p:cNvSpPr/>
          <p:nvPr/>
        </p:nvSpPr>
        <p:spPr>
          <a:xfrm>
            <a:off x="7635240" y="201168"/>
            <a:ext cx="3977640" cy="201168"/>
          </a:xfrm>
          <a:prstGeom prst="rect">
            <a:avLst/>
          </a:prstGeom>
          <a:noFill/>
          <a:ln/>
        </p:spPr>
        <p:txBody>
          <a:bodyPr wrap="square" lIns="0" tIns="0" rIns="0" bIns="0" rtlCol="0" anchor="ctr"/>
          <a:lstStyle/>
          <a:p>
            <a:pPr algn="r" indent="0" marL="0">
              <a:buNone/>
            </a:pPr>
            <a:r>
              <a:rPr lang="en-US" sz="880" dirty="0">
                <a:solidFill>
                  <a:srgbClr val="667085"/>
                </a:solidFill>
                <a:latin typeface="Arial" pitchFamily="34" charset="0"/>
                <a:ea typeface="Arial" pitchFamily="34" charset="-122"/>
                <a:cs typeface="Arial" pitchFamily="34" charset="-120"/>
              </a:rPr>
              <a:t>AI FOR CUSTOMERS • MSB AI Hackathon 2026</a:t>
            </a:r>
            <a:endParaRPr lang="en-US" sz="880" dirty="0"/>
          </a:p>
        </p:txBody>
      </p:sp>
      <p:sp>
        <p:nvSpPr>
          <p:cNvPr id="4" name="Shape 2"/>
          <p:cNvSpPr/>
          <p:nvPr/>
        </p:nvSpPr>
        <p:spPr>
          <a:xfrm>
            <a:off x="384048" y="502920"/>
            <a:ext cx="11430000" cy="0"/>
          </a:xfrm>
          <a:prstGeom prst="line">
            <a:avLst/>
          </a:prstGeom>
          <a:noFill/>
          <a:ln w="9525">
            <a:solidFill>
              <a:srgbClr val="E5E7EB"/>
            </a:solidFill>
            <a:prstDash val="solid"/>
          </a:ln>
        </p:spPr>
      </p:sp>
      <p:sp>
        <p:nvSpPr>
          <p:cNvPr id="5" name="Text 3"/>
          <p:cNvSpPr/>
          <p:nvPr/>
        </p:nvSpPr>
        <p:spPr>
          <a:xfrm>
            <a:off x="658368" y="685800"/>
            <a:ext cx="5715000" cy="393192"/>
          </a:xfrm>
          <a:prstGeom prst="rect">
            <a:avLst/>
          </a:prstGeom>
          <a:noFill/>
          <a:ln/>
        </p:spPr>
        <p:txBody>
          <a:bodyPr wrap="square" lIns="0" tIns="0" rIns="0" bIns="0" rtlCol="0" anchor="ctr"/>
          <a:lstStyle/>
          <a:p>
            <a:pPr indent="0" marL="0">
              <a:buNone/>
            </a:pPr>
            <a:r>
              <a:rPr lang="en-US" sz="2400" b="1" dirty="0">
                <a:solidFill>
                  <a:srgbClr val="0B1F3A"/>
                </a:solidFill>
                <a:latin typeface="Arial" pitchFamily="34" charset="0"/>
                <a:ea typeface="Arial" pitchFamily="34" charset="-122"/>
                <a:cs typeface="Arial" pitchFamily="34" charset="-120"/>
              </a:rPr>
              <a:t>Phạm vi demo: 5 persona – 5 tình huống chuẩn</a:t>
            </a:r>
            <a:endParaRPr lang="en-US" sz="2400" dirty="0"/>
          </a:p>
        </p:txBody>
      </p:sp>
      <p:sp>
        <p:nvSpPr>
          <p:cNvPr id="6" name="Text 4"/>
          <p:cNvSpPr/>
          <p:nvPr/>
        </p:nvSpPr>
        <p:spPr>
          <a:xfrm>
            <a:off x="11311128" y="6355080"/>
            <a:ext cx="411480" cy="182880"/>
          </a:xfrm>
          <a:prstGeom prst="rect">
            <a:avLst/>
          </a:prstGeom>
          <a:noFill/>
          <a:ln/>
        </p:spPr>
        <p:txBody>
          <a:bodyPr wrap="square" lIns="0" tIns="0" rIns="0" bIns="0" rtlCol="0" anchor="ctr"/>
          <a:lstStyle/>
          <a:p>
            <a:pPr algn="r" indent="0" marL="0">
              <a:buNone/>
            </a:pPr>
            <a:r>
              <a:rPr lang="en-US" sz="900" dirty="0">
                <a:solidFill>
                  <a:srgbClr val="98A2B3"/>
                </a:solidFill>
              </a:rPr>
              <a:t>04</a:t>
            </a:r>
            <a:endParaRPr lang="en-US" sz="900" dirty="0"/>
          </a:p>
        </p:txBody>
      </p:sp>
      <p:sp>
        <p:nvSpPr>
          <p:cNvPr id="7" name="Text 5"/>
          <p:cNvSpPr/>
          <p:nvPr/>
        </p:nvSpPr>
        <p:spPr>
          <a:xfrm>
            <a:off x="713232" y="1115568"/>
            <a:ext cx="9875520" cy="320040"/>
          </a:xfrm>
          <a:prstGeom prst="rect">
            <a:avLst/>
          </a:prstGeom>
          <a:noFill/>
          <a:ln/>
        </p:spPr>
        <p:txBody>
          <a:bodyPr wrap="square" lIns="508" tIns="508" rIns="508" bIns="508" rtlCol="0" anchor="ctr">
            <a:normAutofit/>
          </a:bodyPr>
          <a:lstStyle/>
          <a:p>
            <a:pPr indent="0" marL="0">
              <a:buNone/>
            </a:pPr>
            <a:r>
              <a:rPr lang="en-US" sz="1350" dirty="0">
                <a:solidFill>
                  <a:srgbClr val="667085"/>
                </a:solidFill>
                <a:latin typeface="Arial" pitchFamily="34" charset="0"/>
                <a:ea typeface="Arial" pitchFamily="34" charset="-122"/>
                <a:cs typeface="Arial" pitchFamily="34" charset="-120"/>
              </a:rPr>
              <a:t>Demo dùng dữ liệu giả lập cho 5 nhóm khách hàng phổ biến, phủ các nghiệp vụ eBank, tài khoản, thuế điện tử và chữ ký số.</a:t>
            </a:r>
            <a:endParaRPr lang="en-US" sz="1350" dirty="0"/>
          </a:p>
        </p:txBody>
      </p:sp>
      <p:sp>
        <p:nvSpPr>
          <p:cNvPr id="8" name="Shape 6"/>
          <p:cNvSpPr/>
          <p:nvPr/>
        </p:nvSpPr>
        <p:spPr>
          <a:xfrm>
            <a:off x="658368" y="1828800"/>
            <a:ext cx="1920240" cy="2057400"/>
          </a:xfrm>
          <a:prstGeom prst="roundRect">
            <a:avLst>
              <a:gd name="adj" fmla="val 4286"/>
            </a:avLst>
          </a:prstGeom>
          <a:solidFill>
            <a:srgbClr val="EAF2FF"/>
          </a:solidFill>
          <a:ln w="15240">
            <a:solidFill>
              <a:srgbClr val="1757A6"/>
            </a:solidFill>
            <a:prstDash val="solid"/>
          </a:ln>
        </p:spPr>
      </p:sp>
      <p:sp>
        <p:nvSpPr>
          <p:cNvPr id="9" name="Text 7"/>
          <p:cNvSpPr/>
          <p:nvPr/>
        </p:nvSpPr>
        <p:spPr>
          <a:xfrm>
            <a:off x="1353312" y="2048256"/>
            <a:ext cx="502920" cy="347472"/>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0" name="Text 8"/>
          <p:cNvSpPr/>
          <p:nvPr/>
        </p:nvSpPr>
        <p:spPr>
          <a:xfrm>
            <a:off x="822960" y="2624328"/>
            <a:ext cx="1572768" cy="210312"/>
          </a:xfrm>
          <a:prstGeom prst="rect">
            <a:avLst/>
          </a:prstGeom>
          <a:noFill/>
          <a:ln/>
        </p:spPr>
        <p:txBody>
          <a:bodyPr wrap="square" lIns="0" tIns="0" rIns="0" bIns="0" rtlCol="0" anchor="ctr"/>
          <a:lstStyle/>
          <a:p>
            <a:pPr algn="ctr" indent="0" marL="0">
              <a:buNone/>
            </a:pPr>
            <a:r>
              <a:rPr lang="en-US" sz="1400" b="1" dirty="0">
                <a:solidFill>
                  <a:srgbClr val="1757A6"/>
                </a:solidFill>
              </a:rPr>
              <a:t>CTCP X</a:t>
            </a:r>
            <a:endParaRPr lang="en-US" sz="1400" dirty="0"/>
          </a:p>
        </p:txBody>
      </p:sp>
      <p:sp>
        <p:nvSpPr>
          <p:cNvPr id="11" name="Text 9"/>
          <p:cNvSpPr/>
          <p:nvPr/>
        </p:nvSpPr>
        <p:spPr>
          <a:xfrm>
            <a:off x="841248" y="2999232"/>
            <a:ext cx="1554480" cy="420624"/>
          </a:xfrm>
          <a:prstGeom prst="rect">
            <a:avLst/>
          </a:prstGeom>
          <a:noFill/>
          <a:ln/>
        </p:spPr>
        <p:txBody>
          <a:bodyPr wrap="square" lIns="0" tIns="0" rIns="0" bIns="0" rtlCol="0" anchor="ctr">
            <a:normAutofit/>
          </a:bodyPr>
          <a:lstStyle/>
          <a:p>
            <a:pPr algn="ctr" indent="0" marL="0">
              <a:buNone/>
            </a:pPr>
            <a:r>
              <a:rPr lang="en-US" sz="1060" dirty="0">
                <a:solidFill>
                  <a:srgbClr val="111827"/>
                </a:solidFill>
              </a:rPr>
              <a:t>Thêm kế toán</a:t>
            </a:r>
            <a:endParaRPr lang="en-US" sz="1060" dirty="0"/>
          </a:p>
          <a:p>
            <a:pPr algn="ctr" indent="0" marL="0">
              <a:buNone/>
            </a:pPr>
            <a:r>
              <a:rPr lang="en-US" sz="1060" dirty="0">
                <a:solidFill>
                  <a:srgbClr val="111827"/>
                </a:solidFill>
              </a:rPr>
              <a:t>Maker → Approver</a:t>
            </a:r>
            <a:endParaRPr lang="en-US" sz="1060" dirty="0"/>
          </a:p>
        </p:txBody>
      </p:sp>
      <p:sp>
        <p:nvSpPr>
          <p:cNvPr id="12" name="Shape 10"/>
          <p:cNvSpPr/>
          <p:nvPr/>
        </p:nvSpPr>
        <p:spPr>
          <a:xfrm>
            <a:off x="2898648" y="1828800"/>
            <a:ext cx="1920240" cy="2057400"/>
          </a:xfrm>
          <a:prstGeom prst="roundRect">
            <a:avLst>
              <a:gd name="adj" fmla="val 4286"/>
            </a:avLst>
          </a:prstGeom>
          <a:solidFill>
            <a:srgbClr val="FCE8EA"/>
          </a:solidFill>
          <a:ln w="15240">
            <a:solidFill>
              <a:srgbClr val="E30613"/>
            </a:solidFill>
            <a:prstDash val="solid"/>
          </a:ln>
        </p:spPr>
      </p:sp>
      <p:sp>
        <p:nvSpPr>
          <p:cNvPr id="13" name="Text 11"/>
          <p:cNvSpPr/>
          <p:nvPr/>
        </p:nvSpPr>
        <p:spPr>
          <a:xfrm>
            <a:off x="3593592" y="2048256"/>
            <a:ext cx="502920" cy="347472"/>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4" name="Text 12"/>
          <p:cNvSpPr/>
          <p:nvPr/>
        </p:nvSpPr>
        <p:spPr>
          <a:xfrm>
            <a:off x="3063240" y="2624328"/>
            <a:ext cx="1572768" cy="210312"/>
          </a:xfrm>
          <a:prstGeom prst="rect">
            <a:avLst/>
          </a:prstGeom>
          <a:noFill/>
          <a:ln/>
        </p:spPr>
        <p:txBody>
          <a:bodyPr wrap="square" lIns="0" tIns="0" rIns="0" bIns="0" rtlCol="0" anchor="ctr"/>
          <a:lstStyle/>
          <a:p>
            <a:pPr algn="ctr" indent="0" marL="0">
              <a:buNone/>
            </a:pPr>
            <a:r>
              <a:rPr lang="en-US" sz="1400" b="1" dirty="0">
                <a:solidFill>
                  <a:srgbClr val="E30613"/>
                </a:solidFill>
              </a:rPr>
              <a:t>TNHH MTV Y</a:t>
            </a:r>
            <a:endParaRPr lang="en-US" sz="1400" dirty="0"/>
          </a:p>
        </p:txBody>
      </p:sp>
      <p:sp>
        <p:nvSpPr>
          <p:cNvPr id="15" name="Text 13"/>
          <p:cNvSpPr/>
          <p:nvPr/>
        </p:nvSpPr>
        <p:spPr>
          <a:xfrm>
            <a:off x="3081528" y="2999232"/>
            <a:ext cx="1554480" cy="420624"/>
          </a:xfrm>
          <a:prstGeom prst="rect">
            <a:avLst/>
          </a:prstGeom>
          <a:noFill/>
          <a:ln/>
        </p:spPr>
        <p:txBody>
          <a:bodyPr wrap="square" lIns="0" tIns="0" rIns="0" bIns="0" rtlCol="0" anchor="ctr">
            <a:normAutofit/>
          </a:bodyPr>
          <a:lstStyle/>
          <a:p>
            <a:pPr algn="ctr" indent="0" marL="0">
              <a:buNone/>
            </a:pPr>
            <a:r>
              <a:rPr lang="en-US" sz="1060" dirty="0">
                <a:solidFill>
                  <a:srgbClr val="111827"/>
                </a:solidFill>
              </a:rPr>
              <a:t>Thay Giám đốc</a:t>
            </a:r>
            <a:endParaRPr lang="en-US" sz="1060" dirty="0"/>
          </a:p>
          <a:p>
            <a:pPr algn="ctr" indent="0" marL="0">
              <a:buNone/>
            </a:pPr>
            <a:r>
              <a:rPr lang="en-US" sz="1060" dirty="0">
                <a:solidFill>
                  <a:srgbClr val="111827"/>
                </a:solidFill>
              </a:rPr>
              <a:t>&amp; người đại diện</a:t>
            </a:r>
            <a:endParaRPr lang="en-US" sz="1060" dirty="0"/>
          </a:p>
        </p:txBody>
      </p:sp>
      <p:sp>
        <p:nvSpPr>
          <p:cNvPr id="16" name="Shape 14"/>
          <p:cNvSpPr/>
          <p:nvPr/>
        </p:nvSpPr>
        <p:spPr>
          <a:xfrm>
            <a:off x="5138928" y="1828800"/>
            <a:ext cx="1920240" cy="2057400"/>
          </a:xfrm>
          <a:prstGeom prst="roundRect">
            <a:avLst>
              <a:gd name="adj" fmla="val 4286"/>
            </a:avLst>
          </a:prstGeom>
          <a:solidFill>
            <a:srgbClr val="E7F7F1"/>
          </a:solidFill>
          <a:ln w="15240">
            <a:solidFill>
              <a:srgbClr val="00A676"/>
            </a:solidFill>
            <a:prstDash val="solid"/>
          </a:ln>
        </p:spPr>
      </p:sp>
      <p:sp>
        <p:nvSpPr>
          <p:cNvPr id="17" name="Text 15"/>
          <p:cNvSpPr/>
          <p:nvPr/>
        </p:nvSpPr>
        <p:spPr>
          <a:xfrm>
            <a:off x="5833872" y="2048256"/>
            <a:ext cx="502920" cy="347472"/>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8" name="Text 16"/>
          <p:cNvSpPr/>
          <p:nvPr/>
        </p:nvSpPr>
        <p:spPr>
          <a:xfrm>
            <a:off x="5303520" y="2624328"/>
            <a:ext cx="1572768" cy="210312"/>
          </a:xfrm>
          <a:prstGeom prst="rect">
            <a:avLst/>
          </a:prstGeom>
          <a:noFill/>
          <a:ln/>
        </p:spPr>
        <p:txBody>
          <a:bodyPr wrap="square" lIns="0" tIns="0" rIns="0" bIns="0" rtlCol="0" anchor="ctr"/>
          <a:lstStyle/>
          <a:p>
            <a:pPr algn="ctr" indent="0" marL="0">
              <a:buNone/>
            </a:pPr>
            <a:r>
              <a:rPr lang="en-US" sz="1400" b="1" dirty="0">
                <a:solidFill>
                  <a:srgbClr val="00A676"/>
                </a:solidFill>
              </a:rPr>
              <a:t>TNHH ≥2TV Z</a:t>
            </a:r>
            <a:endParaRPr lang="en-US" sz="1400" dirty="0"/>
          </a:p>
        </p:txBody>
      </p:sp>
      <p:sp>
        <p:nvSpPr>
          <p:cNvPr id="19" name="Text 17"/>
          <p:cNvSpPr/>
          <p:nvPr/>
        </p:nvSpPr>
        <p:spPr>
          <a:xfrm>
            <a:off x="5321808" y="2999232"/>
            <a:ext cx="1554480" cy="420624"/>
          </a:xfrm>
          <a:prstGeom prst="rect">
            <a:avLst/>
          </a:prstGeom>
          <a:noFill/>
          <a:ln/>
        </p:spPr>
        <p:txBody>
          <a:bodyPr wrap="square" lIns="0" tIns="0" rIns="0" bIns="0" rtlCol="0" anchor="ctr">
            <a:normAutofit/>
          </a:bodyPr>
          <a:lstStyle/>
          <a:p>
            <a:pPr algn="ctr" indent="0" marL="0">
              <a:buNone/>
            </a:pPr>
            <a:r>
              <a:rPr lang="en-US" sz="1060" dirty="0">
                <a:solidFill>
                  <a:srgbClr val="111827"/>
                </a:solidFill>
              </a:rPr>
              <a:t>Thuế điện tử</a:t>
            </a:r>
            <a:endParaRPr lang="en-US" sz="1060" dirty="0"/>
          </a:p>
          <a:p>
            <a:pPr algn="ctr" indent="0" marL="0">
              <a:buNone/>
            </a:pPr>
            <a:r>
              <a:rPr lang="en-US" sz="1060" dirty="0">
                <a:solidFill>
                  <a:srgbClr val="111827"/>
                </a:solidFill>
              </a:rPr>
              <a:t>+ chữ ký số</a:t>
            </a:r>
            <a:endParaRPr lang="en-US" sz="1060" dirty="0"/>
          </a:p>
        </p:txBody>
      </p:sp>
      <p:sp>
        <p:nvSpPr>
          <p:cNvPr id="20" name="Shape 18"/>
          <p:cNvSpPr/>
          <p:nvPr/>
        </p:nvSpPr>
        <p:spPr>
          <a:xfrm>
            <a:off x="7379208" y="1828800"/>
            <a:ext cx="1920240" cy="2057400"/>
          </a:xfrm>
          <a:prstGeom prst="roundRect">
            <a:avLst>
              <a:gd name="adj" fmla="val 4286"/>
            </a:avLst>
          </a:prstGeom>
          <a:solidFill>
            <a:srgbClr val="FFF7ED"/>
          </a:solidFill>
          <a:ln w="15240">
            <a:solidFill>
              <a:srgbClr val="F59E0B"/>
            </a:solidFill>
            <a:prstDash val="solid"/>
          </a:ln>
        </p:spPr>
      </p:sp>
      <p:sp>
        <p:nvSpPr>
          <p:cNvPr id="21" name="Text 19"/>
          <p:cNvSpPr/>
          <p:nvPr/>
        </p:nvSpPr>
        <p:spPr>
          <a:xfrm>
            <a:off x="8074152" y="2048256"/>
            <a:ext cx="502920" cy="347472"/>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22" name="Text 20"/>
          <p:cNvSpPr/>
          <p:nvPr/>
        </p:nvSpPr>
        <p:spPr>
          <a:xfrm>
            <a:off x="7543800" y="2624328"/>
            <a:ext cx="1572768" cy="210312"/>
          </a:xfrm>
          <a:prstGeom prst="rect">
            <a:avLst/>
          </a:prstGeom>
          <a:noFill/>
          <a:ln/>
        </p:spPr>
        <p:txBody>
          <a:bodyPr wrap="square" lIns="0" tIns="0" rIns="0" bIns="0" rtlCol="0" anchor="ctr"/>
          <a:lstStyle/>
          <a:p>
            <a:pPr algn="ctr" indent="0" marL="0">
              <a:buNone/>
            </a:pPr>
            <a:r>
              <a:rPr lang="en-US" sz="1400" b="1" dirty="0">
                <a:solidFill>
                  <a:srgbClr val="F59E0B"/>
                </a:solidFill>
              </a:rPr>
              <a:t>DNTN A</a:t>
            </a:r>
            <a:endParaRPr lang="en-US" sz="1400" dirty="0"/>
          </a:p>
        </p:txBody>
      </p:sp>
      <p:sp>
        <p:nvSpPr>
          <p:cNvPr id="23" name="Text 21"/>
          <p:cNvSpPr/>
          <p:nvPr/>
        </p:nvSpPr>
        <p:spPr>
          <a:xfrm>
            <a:off x="7562088" y="2999232"/>
            <a:ext cx="1554480" cy="420624"/>
          </a:xfrm>
          <a:prstGeom prst="rect">
            <a:avLst/>
          </a:prstGeom>
          <a:noFill/>
          <a:ln/>
        </p:spPr>
        <p:txBody>
          <a:bodyPr wrap="square" lIns="0" tIns="0" rIns="0" bIns="0" rtlCol="0" anchor="ctr">
            <a:normAutofit/>
          </a:bodyPr>
          <a:lstStyle/>
          <a:p>
            <a:pPr algn="ctr" indent="0" marL="0">
              <a:buNone/>
            </a:pPr>
            <a:r>
              <a:rPr lang="en-US" sz="1060" dirty="0">
                <a:solidFill>
                  <a:srgbClr val="111827"/>
                </a:solidFill>
              </a:rPr>
              <a:t>Ủy quyền kế toán</a:t>
            </a:r>
            <a:endParaRPr lang="en-US" sz="1060" dirty="0"/>
          </a:p>
          <a:p>
            <a:pPr algn="ctr" indent="0" marL="0">
              <a:buNone/>
            </a:pPr>
            <a:r>
              <a:rPr lang="en-US" sz="1060" dirty="0">
                <a:solidFill>
                  <a:srgbClr val="111827"/>
                </a:solidFill>
              </a:rPr>
              <a:t>dùng eBank</a:t>
            </a:r>
            <a:endParaRPr lang="en-US" sz="1060" dirty="0"/>
          </a:p>
        </p:txBody>
      </p:sp>
      <p:sp>
        <p:nvSpPr>
          <p:cNvPr id="24" name="Shape 22"/>
          <p:cNvSpPr/>
          <p:nvPr/>
        </p:nvSpPr>
        <p:spPr>
          <a:xfrm>
            <a:off x="9619488" y="1828800"/>
            <a:ext cx="1920240" cy="2057400"/>
          </a:xfrm>
          <a:prstGeom prst="roundRect">
            <a:avLst>
              <a:gd name="adj" fmla="val 4286"/>
            </a:avLst>
          </a:prstGeom>
          <a:solidFill>
            <a:srgbClr val="EEF2FF"/>
          </a:solidFill>
          <a:ln w="15240">
            <a:solidFill>
              <a:srgbClr val="4F46E5"/>
            </a:solidFill>
            <a:prstDash val="solid"/>
          </a:ln>
        </p:spPr>
      </p:sp>
      <p:sp>
        <p:nvSpPr>
          <p:cNvPr id="25" name="Text 23"/>
          <p:cNvSpPr/>
          <p:nvPr/>
        </p:nvSpPr>
        <p:spPr>
          <a:xfrm>
            <a:off x="10314432" y="2048256"/>
            <a:ext cx="502920" cy="347472"/>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26" name="Text 24"/>
          <p:cNvSpPr/>
          <p:nvPr/>
        </p:nvSpPr>
        <p:spPr>
          <a:xfrm>
            <a:off x="9784080" y="2624328"/>
            <a:ext cx="1572768" cy="210312"/>
          </a:xfrm>
          <a:prstGeom prst="rect">
            <a:avLst/>
          </a:prstGeom>
          <a:noFill/>
          <a:ln/>
        </p:spPr>
        <p:txBody>
          <a:bodyPr wrap="square" lIns="0" tIns="0" rIns="0" bIns="0" rtlCol="0" anchor="ctr"/>
          <a:lstStyle/>
          <a:p>
            <a:pPr algn="ctr" indent="0" marL="0">
              <a:buNone/>
            </a:pPr>
            <a:r>
              <a:rPr lang="en-US" sz="1400" b="1" dirty="0">
                <a:solidFill>
                  <a:srgbClr val="4F46E5"/>
                </a:solidFill>
              </a:rPr>
              <a:t>Cá nhân A</a:t>
            </a:r>
            <a:endParaRPr lang="en-US" sz="1400" dirty="0"/>
          </a:p>
        </p:txBody>
      </p:sp>
      <p:sp>
        <p:nvSpPr>
          <p:cNvPr id="27" name="Text 25"/>
          <p:cNvSpPr/>
          <p:nvPr/>
        </p:nvSpPr>
        <p:spPr>
          <a:xfrm>
            <a:off x="9802368" y="2999232"/>
            <a:ext cx="1554480" cy="420624"/>
          </a:xfrm>
          <a:prstGeom prst="rect">
            <a:avLst/>
          </a:prstGeom>
          <a:noFill/>
          <a:ln/>
        </p:spPr>
        <p:txBody>
          <a:bodyPr wrap="square" lIns="0" tIns="0" rIns="0" bIns="0" rtlCol="0" anchor="ctr">
            <a:normAutofit/>
          </a:bodyPr>
          <a:lstStyle/>
          <a:p>
            <a:pPr algn="ctr" indent="0" marL="0">
              <a:buNone/>
            </a:pPr>
            <a:r>
              <a:rPr lang="en-US" sz="1060" dirty="0">
                <a:solidFill>
                  <a:srgbClr val="111827"/>
                </a:solidFill>
              </a:rPr>
              <a:t>Đổi SĐT, email</a:t>
            </a:r>
            <a:endParaRPr lang="en-US" sz="1060" dirty="0"/>
          </a:p>
          <a:p>
            <a:pPr algn="ctr" indent="0" marL="0">
              <a:buNone/>
            </a:pPr>
            <a:r>
              <a:rPr lang="en-US" sz="1060" dirty="0">
                <a:solidFill>
                  <a:srgbClr val="111827"/>
                </a:solidFill>
              </a:rPr>
              <a:t>&amp; eBank</a:t>
            </a:r>
            <a:endParaRPr lang="en-US" sz="1060" dirty="0"/>
          </a:p>
        </p:txBody>
      </p:sp>
      <p:sp>
        <p:nvSpPr>
          <p:cNvPr id="28" name="Shape 26"/>
          <p:cNvSpPr/>
          <p:nvPr/>
        </p:nvSpPr>
        <p:spPr>
          <a:xfrm>
            <a:off x="1143000" y="4663440"/>
            <a:ext cx="9921240" cy="777240"/>
          </a:xfrm>
          <a:prstGeom prst="roundRect">
            <a:avLst>
              <a:gd name="adj" fmla="val 9412"/>
            </a:avLst>
          </a:prstGeom>
          <a:solidFill>
            <a:srgbClr val="0B1F3A"/>
          </a:solidFill>
          <a:ln w="12700">
            <a:solidFill>
              <a:srgbClr val="0B1F3A"/>
            </a:solidFill>
            <a:prstDash val="solid"/>
          </a:ln>
        </p:spPr>
      </p:sp>
      <p:sp>
        <p:nvSpPr>
          <p:cNvPr id="29" name="Text 27"/>
          <p:cNvSpPr/>
          <p:nvPr/>
        </p:nvSpPr>
        <p:spPr>
          <a:xfrm>
            <a:off x="1481328" y="4919472"/>
            <a:ext cx="9235440" cy="201168"/>
          </a:xfrm>
          <a:prstGeom prst="rect">
            <a:avLst/>
          </a:prstGeom>
          <a:noFill/>
          <a:ln/>
        </p:spPr>
        <p:txBody>
          <a:bodyPr wrap="square" lIns="0" tIns="0" rIns="0" bIns="0" rtlCol="0" anchor="ctr">
            <a:normAutofit/>
          </a:bodyPr>
          <a:lstStyle/>
          <a:p>
            <a:pPr algn="ctr" indent="0" marL="0">
              <a:buNone/>
            </a:pPr>
            <a:r>
              <a:rPr lang="en-US" sz="1450" b="1" dirty="0">
                <a:solidFill>
                  <a:srgbClr val="FFFFFF"/>
                </a:solidFill>
              </a:rPr>
              <a:t>Màn demo chính: “CÔNG TY TNHH HAI THÀNH VIÊN TRỞ LÊN Z muốn đăng ký nộp thuế điện tử và dùng chữ ký số Viettel-CA.”</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4048" y="201168"/>
            <a:ext cx="2103120" cy="201168"/>
          </a:xfrm>
          <a:prstGeom prst="rect">
            <a:avLst/>
          </a:prstGeom>
          <a:noFill/>
          <a:ln/>
        </p:spPr>
        <p:txBody>
          <a:bodyPr wrap="square" lIns="0" tIns="0" rIns="0" bIns="0" rtlCol="0" anchor="ctr"/>
          <a:lstStyle/>
          <a:p>
            <a:pPr indent="0" marL="0">
              <a:buNone/>
            </a:pPr>
            <a:r>
              <a:rPr lang="en-US" sz="950" b="1" dirty="0">
                <a:solidFill>
                  <a:srgbClr val="E30613"/>
                </a:solidFill>
                <a:latin typeface="Arial" pitchFamily="34" charset="0"/>
                <a:ea typeface="Arial" pitchFamily="34" charset="-122"/>
                <a:cs typeface="Arial" pitchFamily="34" charset="-120"/>
              </a:rPr>
              <a:t>MSB SmartForm AI</a:t>
            </a:r>
            <a:endParaRPr lang="en-US" sz="950" dirty="0"/>
          </a:p>
        </p:txBody>
      </p:sp>
      <p:sp>
        <p:nvSpPr>
          <p:cNvPr id="3" name="Text 1"/>
          <p:cNvSpPr/>
          <p:nvPr/>
        </p:nvSpPr>
        <p:spPr>
          <a:xfrm>
            <a:off x="7635240" y="201168"/>
            <a:ext cx="3977640" cy="201168"/>
          </a:xfrm>
          <a:prstGeom prst="rect">
            <a:avLst/>
          </a:prstGeom>
          <a:noFill/>
          <a:ln/>
        </p:spPr>
        <p:txBody>
          <a:bodyPr wrap="square" lIns="0" tIns="0" rIns="0" bIns="0" rtlCol="0" anchor="ctr"/>
          <a:lstStyle/>
          <a:p>
            <a:pPr algn="r" indent="0" marL="0">
              <a:buNone/>
            </a:pPr>
            <a:r>
              <a:rPr lang="en-US" sz="880" dirty="0">
                <a:solidFill>
                  <a:srgbClr val="667085"/>
                </a:solidFill>
                <a:latin typeface="Arial" pitchFamily="34" charset="0"/>
                <a:ea typeface="Arial" pitchFamily="34" charset="-122"/>
                <a:cs typeface="Arial" pitchFamily="34" charset="-120"/>
              </a:rPr>
              <a:t>AI FOR CUSTOMERS • MSB AI Hackathon 2026</a:t>
            </a:r>
            <a:endParaRPr lang="en-US" sz="880" dirty="0"/>
          </a:p>
        </p:txBody>
      </p:sp>
      <p:sp>
        <p:nvSpPr>
          <p:cNvPr id="4" name="Shape 2"/>
          <p:cNvSpPr/>
          <p:nvPr/>
        </p:nvSpPr>
        <p:spPr>
          <a:xfrm>
            <a:off x="384048" y="502920"/>
            <a:ext cx="11430000" cy="0"/>
          </a:xfrm>
          <a:prstGeom prst="line">
            <a:avLst/>
          </a:prstGeom>
          <a:noFill/>
          <a:ln w="9525">
            <a:solidFill>
              <a:srgbClr val="E5E7EB"/>
            </a:solidFill>
            <a:prstDash val="solid"/>
          </a:ln>
        </p:spPr>
      </p:sp>
      <p:sp>
        <p:nvSpPr>
          <p:cNvPr id="5" name="Text 3"/>
          <p:cNvSpPr/>
          <p:nvPr/>
        </p:nvSpPr>
        <p:spPr>
          <a:xfrm>
            <a:off x="658368" y="685800"/>
            <a:ext cx="5715000" cy="393192"/>
          </a:xfrm>
          <a:prstGeom prst="rect">
            <a:avLst/>
          </a:prstGeom>
          <a:noFill/>
          <a:ln/>
        </p:spPr>
        <p:txBody>
          <a:bodyPr wrap="square" lIns="0" tIns="0" rIns="0" bIns="0" rtlCol="0" anchor="ctr"/>
          <a:lstStyle/>
          <a:p>
            <a:pPr indent="0" marL="0">
              <a:buNone/>
            </a:pPr>
            <a:r>
              <a:rPr lang="en-US" sz="2400" b="1" dirty="0">
                <a:solidFill>
                  <a:srgbClr val="0B1F3A"/>
                </a:solidFill>
                <a:latin typeface="Arial" pitchFamily="34" charset="0"/>
                <a:ea typeface="Arial" pitchFamily="34" charset="-122"/>
                <a:cs typeface="Arial" pitchFamily="34" charset="-120"/>
              </a:rPr>
              <a:t>Kịch bản demo trực tiếp: từ 1 câu nói đến bộ hồ sơ</a:t>
            </a:r>
            <a:endParaRPr lang="en-US" sz="2400" dirty="0"/>
          </a:p>
        </p:txBody>
      </p:sp>
      <p:sp>
        <p:nvSpPr>
          <p:cNvPr id="6" name="Text 4"/>
          <p:cNvSpPr/>
          <p:nvPr/>
        </p:nvSpPr>
        <p:spPr>
          <a:xfrm>
            <a:off x="11311128" y="6355080"/>
            <a:ext cx="411480" cy="182880"/>
          </a:xfrm>
          <a:prstGeom prst="rect">
            <a:avLst/>
          </a:prstGeom>
          <a:noFill/>
          <a:ln/>
        </p:spPr>
        <p:txBody>
          <a:bodyPr wrap="square" lIns="0" tIns="0" rIns="0" bIns="0" rtlCol="0" anchor="ctr"/>
          <a:lstStyle/>
          <a:p>
            <a:pPr algn="r" indent="0" marL="0">
              <a:buNone/>
            </a:pPr>
            <a:r>
              <a:rPr lang="en-US" sz="900" dirty="0">
                <a:solidFill>
                  <a:srgbClr val="98A2B3"/>
                </a:solidFill>
              </a:rPr>
              <a:t>05</a:t>
            </a:r>
            <a:endParaRPr lang="en-US" sz="900" dirty="0"/>
          </a:p>
        </p:txBody>
      </p:sp>
      <p:sp>
        <p:nvSpPr>
          <p:cNvPr id="7" name="Shape 5"/>
          <p:cNvSpPr/>
          <p:nvPr/>
        </p:nvSpPr>
        <p:spPr>
          <a:xfrm>
            <a:off x="704088" y="1234440"/>
            <a:ext cx="4617720" cy="941832"/>
          </a:xfrm>
          <a:prstGeom prst="roundRect">
            <a:avLst>
              <a:gd name="adj" fmla="val 6796"/>
            </a:avLst>
          </a:prstGeom>
          <a:solidFill>
            <a:srgbClr val="0B1F3A"/>
          </a:solidFill>
          <a:ln w="12700">
            <a:solidFill>
              <a:srgbClr val="0B1F3A"/>
            </a:solidFill>
            <a:prstDash val="solid"/>
          </a:ln>
        </p:spPr>
      </p:sp>
      <p:sp>
        <p:nvSpPr>
          <p:cNvPr id="8" name="Text 6"/>
          <p:cNvSpPr/>
          <p:nvPr/>
        </p:nvSpPr>
        <p:spPr>
          <a:xfrm>
            <a:off x="960120" y="1444752"/>
            <a:ext cx="1645920" cy="182880"/>
          </a:xfrm>
          <a:prstGeom prst="rect">
            <a:avLst/>
          </a:prstGeom>
          <a:noFill/>
          <a:ln/>
        </p:spPr>
        <p:txBody>
          <a:bodyPr wrap="square" lIns="0" tIns="0" rIns="0" bIns="0" rtlCol="0" anchor="ctr"/>
          <a:lstStyle/>
          <a:p>
            <a:pPr indent="0" marL="0">
              <a:buNone/>
            </a:pPr>
            <a:r>
              <a:rPr lang="en-US" sz="1150" b="1" dirty="0">
                <a:solidFill>
                  <a:srgbClr val="A7F3D0"/>
                </a:solidFill>
              </a:rPr>
              <a:t>Prompt khách hàng</a:t>
            </a:r>
            <a:endParaRPr lang="en-US" sz="1150" dirty="0"/>
          </a:p>
        </p:txBody>
      </p:sp>
      <p:sp>
        <p:nvSpPr>
          <p:cNvPr id="9" name="Text 7"/>
          <p:cNvSpPr/>
          <p:nvPr/>
        </p:nvSpPr>
        <p:spPr>
          <a:xfrm>
            <a:off x="960120" y="1700784"/>
            <a:ext cx="4050792" cy="228600"/>
          </a:xfrm>
          <a:prstGeom prst="rect">
            <a:avLst/>
          </a:prstGeom>
          <a:noFill/>
          <a:ln/>
        </p:spPr>
        <p:txBody>
          <a:bodyPr wrap="square" lIns="0" tIns="0" rIns="0" bIns="0" rtlCol="0" anchor="ctr">
            <a:normAutofit/>
          </a:bodyPr>
          <a:lstStyle/>
          <a:p>
            <a:pPr indent="0" marL="0">
              <a:buNone/>
            </a:pPr>
            <a:r>
              <a:rPr lang="en-US" sz="1300" b="1" dirty="0">
                <a:solidFill>
                  <a:srgbClr val="FFFFFF"/>
                </a:solidFill>
              </a:rPr>
              <a:t>“Công ty tôi muốn dùng tài khoản MSB để nộp thuế điện tử và dùng chữ ký số Viettel-CA.”</a:t>
            </a:r>
            <a:endParaRPr lang="en-US" sz="1300" dirty="0"/>
          </a:p>
        </p:txBody>
      </p:sp>
      <p:sp>
        <p:nvSpPr>
          <p:cNvPr id="10" name="Text 8"/>
          <p:cNvSpPr/>
          <p:nvPr/>
        </p:nvSpPr>
        <p:spPr>
          <a:xfrm>
            <a:off x="841248" y="2697480"/>
            <a:ext cx="365760" cy="201168"/>
          </a:xfrm>
          <a:prstGeom prst="rect">
            <a:avLst/>
          </a:prstGeom>
          <a:noFill/>
          <a:ln/>
        </p:spPr>
        <p:txBody>
          <a:bodyPr wrap="square" lIns="0" tIns="0" rIns="0" bIns="0" rtlCol="0" anchor="ctr"/>
          <a:lstStyle/>
          <a:p>
            <a:pPr indent="0" marL="0">
              <a:buNone/>
            </a:pPr>
            <a:r>
              <a:rPr lang="en-US" sz="1200" b="1" dirty="0">
                <a:solidFill>
                  <a:srgbClr val="E30613"/>
                </a:solidFill>
              </a:rPr>
              <a:t>01</a:t>
            </a:r>
            <a:endParaRPr lang="en-US" sz="1200" dirty="0"/>
          </a:p>
        </p:txBody>
      </p:sp>
      <p:sp>
        <p:nvSpPr>
          <p:cNvPr id="11" name="Shape 9"/>
          <p:cNvSpPr/>
          <p:nvPr/>
        </p:nvSpPr>
        <p:spPr>
          <a:xfrm>
            <a:off x="1316736" y="2816352"/>
            <a:ext cx="502920" cy="0"/>
          </a:xfrm>
          <a:prstGeom prst="line">
            <a:avLst/>
          </a:prstGeom>
          <a:noFill/>
          <a:ln w="17780">
            <a:solidFill>
              <a:srgbClr val="E30613"/>
            </a:solidFill>
            <a:prstDash val="solid"/>
            <a:headEnd type="none"/>
            <a:tailEnd type="triangle"/>
          </a:ln>
        </p:spPr>
      </p:sp>
      <p:sp>
        <p:nvSpPr>
          <p:cNvPr id="12" name="Text 10"/>
          <p:cNvSpPr/>
          <p:nvPr/>
        </p:nvSpPr>
        <p:spPr>
          <a:xfrm>
            <a:off x="1938528" y="2651760"/>
            <a:ext cx="1965960" cy="228600"/>
          </a:xfrm>
          <a:prstGeom prst="rect">
            <a:avLst/>
          </a:prstGeom>
          <a:noFill/>
          <a:ln/>
        </p:spPr>
        <p:txBody>
          <a:bodyPr wrap="square" lIns="0" tIns="0" rIns="0" bIns="0" rtlCol="0" anchor="ctr"/>
          <a:lstStyle/>
          <a:p>
            <a:pPr indent="0" marL="0">
              <a:buNone/>
            </a:pPr>
            <a:r>
              <a:rPr lang="en-US" sz="1400" b="1" dirty="0">
                <a:solidFill>
                  <a:srgbClr val="0B1F3A"/>
                </a:solidFill>
              </a:rPr>
              <a:t>Agent nhận diện</a:t>
            </a:r>
            <a:endParaRPr lang="en-US" sz="1400" dirty="0"/>
          </a:p>
        </p:txBody>
      </p:sp>
      <p:sp>
        <p:nvSpPr>
          <p:cNvPr id="13" name="Text 11"/>
          <p:cNvSpPr/>
          <p:nvPr/>
        </p:nvSpPr>
        <p:spPr>
          <a:xfrm>
            <a:off x="4096512" y="2670048"/>
            <a:ext cx="3566160" cy="219456"/>
          </a:xfrm>
          <a:prstGeom prst="rect">
            <a:avLst/>
          </a:prstGeom>
          <a:noFill/>
          <a:ln/>
        </p:spPr>
        <p:txBody>
          <a:bodyPr wrap="square" lIns="0" tIns="0" rIns="0" bIns="0" rtlCol="0" anchor="ctr">
            <a:normAutofit/>
          </a:bodyPr>
          <a:lstStyle/>
          <a:p>
            <a:pPr indent="0" marL="0">
              <a:buNone/>
            </a:pPr>
            <a:r>
              <a:rPr lang="en-US" sz="1150" dirty="0">
                <a:solidFill>
                  <a:srgbClr val="667085"/>
                </a:solidFill>
              </a:rPr>
              <a:t>TNHH ≥2TV Z • eTax • Digital Signature</a:t>
            </a:r>
            <a:endParaRPr lang="en-US" sz="1150" dirty="0"/>
          </a:p>
        </p:txBody>
      </p:sp>
      <p:sp>
        <p:nvSpPr>
          <p:cNvPr id="14" name="Text 12"/>
          <p:cNvSpPr/>
          <p:nvPr/>
        </p:nvSpPr>
        <p:spPr>
          <a:xfrm>
            <a:off x="841248" y="3383280"/>
            <a:ext cx="365760" cy="201168"/>
          </a:xfrm>
          <a:prstGeom prst="rect">
            <a:avLst/>
          </a:prstGeom>
          <a:noFill/>
          <a:ln/>
        </p:spPr>
        <p:txBody>
          <a:bodyPr wrap="square" lIns="0" tIns="0" rIns="0" bIns="0" rtlCol="0" anchor="ctr"/>
          <a:lstStyle/>
          <a:p>
            <a:pPr indent="0" marL="0">
              <a:buNone/>
            </a:pPr>
            <a:r>
              <a:rPr lang="en-US" sz="1200" b="1" dirty="0">
                <a:solidFill>
                  <a:srgbClr val="E30613"/>
                </a:solidFill>
              </a:rPr>
              <a:t>02</a:t>
            </a:r>
            <a:endParaRPr lang="en-US" sz="1200" dirty="0"/>
          </a:p>
        </p:txBody>
      </p:sp>
      <p:sp>
        <p:nvSpPr>
          <p:cNvPr id="15" name="Shape 13"/>
          <p:cNvSpPr/>
          <p:nvPr/>
        </p:nvSpPr>
        <p:spPr>
          <a:xfrm>
            <a:off x="1316736" y="3502152"/>
            <a:ext cx="502920" cy="0"/>
          </a:xfrm>
          <a:prstGeom prst="line">
            <a:avLst/>
          </a:prstGeom>
          <a:noFill/>
          <a:ln w="17780">
            <a:solidFill>
              <a:srgbClr val="E30613"/>
            </a:solidFill>
            <a:prstDash val="solid"/>
            <a:headEnd type="none"/>
            <a:tailEnd type="triangle"/>
          </a:ln>
        </p:spPr>
      </p:sp>
      <p:sp>
        <p:nvSpPr>
          <p:cNvPr id="16" name="Text 14"/>
          <p:cNvSpPr/>
          <p:nvPr/>
        </p:nvSpPr>
        <p:spPr>
          <a:xfrm>
            <a:off x="1938528" y="3337560"/>
            <a:ext cx="1965960" cy="228600"/>
          </a:xfrm>
          <a:prstGeom prst="rect">
            <a:avLst/>
          </a:prstGeom>
          <a:noFill/>
          <a:ln/>
        </p:spPr>
        <p:txBody>
          <a:bodyPr wrap="square" lIns="0" tIns="0" rIns="0" bIns="0" rtlCol="0" anchor="ctr"/>
          <a:lstStyle/>
          <a:p>
            <a:pPr indent="0" marL="0">
              <a:buNone/>
            </a:pPr>
            <a:r>
              <a:rPr lang="en-US" sz="1400" b="1" dirty="0">
                <a:solidFill>
                  <a:srgbClr val="0B1F3A"/>
                </a:solidFill>
              </a:rPr>
              <a:t>Hỏi thông tin thiếu</a:t>
            </a:r>
            <a:endParaRPr lang="en-US" sz="1400" dirty="0"/>
          </a:p>
        </p:txBody>
      </p:sp>
      <p:sp>
        <p:nvSpPr>
          <p:cNvPr id="17" name="Text 15"/>
          <p:cNvSpPr/>
          <p:nvPr/>
        </p:nvSpPr>
        <p:spPr>
          <a:xfrm>
            <a:off x="4096512" y="3355848"/>
            <a:ext cx="3566160" cy="219456"/>
          </a:xfrm>
          <a:prstGeom prst="rect">
            <a:avLst/>
          </a:prstGeom>
          <a:noFill/>
          <a:ln/>
        </p:spPr>
        <p:txBody>
          <a:bodyPr wrap="square" lIns="0" tIns="0" rIns="0" bIns="0" rtlCol="0" anchor="ctr">
            <a:normAutofit/>
          </a:bodyPr>
          <a:lstStyle/>
          <a:p>
            <a:pPr indent="0" marL="0">
              <a:buNone/>
            </a:pPr>
            <a:r>
              <a:rPr lang="en-US" sz="1150" dirty="0">
                <a:solidFill>
                  <a:srgbClr val="667085"/>
                </a:solidFill>
              </a:rPr>
              <a:t>serial chứng thư, hiệu lực, email, SĐT</a:t>
            </a:r>
            <a:endParaRPr lang="en-US" sz="1150" dirty="0"/>
          </a:p>
        </p:txBody>
      </p:sp>
      <p:sp>
        <p:nvSpPr>
          <p:cNvPr id="18" name="Text 16"/>
          <p:cNvSpPr/>
          <p:nvPr/>
        </p:nvSpPr>
        <p:spPr>
          <a:xfrm>
            <a:off x="841248" y="4069080"/>
            <a:ext cx="365760" cy="201168"/>
          </a:xfrm>
          <a:prstGeom prst="rect">
            <a:avLst/>
          </a:prstGeom>
          <a:noFill/>
          <a:ln/>
        </p:spPr>
        <p:txBody>
          <a:bodyPr wrap="square" lIns="0" tIns="0" rIns="0" bIns="0" rtlCol="0" anchor="ctr"/>
          <a:lstStyle/>
          <a:p>
            <a:pPr indent="0" marL="0">
              <a:buNone/>
            </a:pPr>
            <a:r>
              <a:rPr lang="en-US" sz="1200" b="1" dirty="0">
                <a:solidFill>
                  <a:srgbClr val="E30613"/>
                </a:solidFill>
              </a:rPr>
              <a:t>03</a:t>
            </a:r>
            <a:endParaRPr lang="en-US" sz="1200" dirty="0"/>
          </a:p>
        </p:txBody>
      </p:sp>
      <p:sp>
        <p:nvSpPr>
          <p:cNvPr id="19" name="Shape 17"/>
          <p:cNvSpPr/>
          <p:nvPr/>
        </p:nvSpPr>
        <p:spPr>
          <a:xfrm>
            <a:off x="1316736" y="4187952"/>
            <a:ext cx="502920" cy="0"/>
          </a:xfrm>
          <a:prstGeom prst="line">
            <a:avLst/>
          </a:prstGeom>
          <a:noFill/>
          <a:ln w="17780">
            <a:solidFill>
              <a:srgbClr val="E30613"/>
            </a:solidFill>
            <a:prstDash val="solid"/>
            <a:headEnd type="none"/>
            <a:tailEnd type="triangle"/>
          </a:ln>
        </p:spPr>
      </p:sp>
      <p:sp>
        <p:nvSpPr>
          <p:cNvPr id="20" name="Text 18"/>
          <p:cNvSpPr/>
          <p:nvPr/>
        </p:nvSpPr>
        <p:spPr>
          <a:xfrm>
            <a:off x="1938528" y="4023360"/>
            <a:ext cx="1965960" cy="228600"/>
          </a:xfrm>
          <a:prstGeom prst="rect">
            <a:avLst/>
          </a:prstGeom>
          <a:noFill/>
          <a:ln/>
        </p:spPr>
        <p:txBody>
          <a:bodyPr wrap="square" lIns="0" tIns="0" rIns="0" bIns="0" rtlCol="0" anchor="ctr"/>
          <a:lstStyle/>
          <a:p>
            <a:pPr indent="0" marL="0">
              <a:buNone/>
            </a:pPr>
            <a:r>
              <a:rPr lang="en-US" sz="1400" b="1" dirty="0">
                <a:solidFill>
                  <a:srgbClr val="0B1F3A"/>
                </a:solidFill>
              </a:rPr>
              <a:t>Chọn mẫu MSB</a:t>
            </a:r>
            <a:endParaRPr lang="en-US" sz="1400" dirty="0"/>
          </a:p>
        </p:txBody>
      </p:sp>
      <p:sp>
        <p:nvSpPr>
          <p:cNvPr id="21" name="Text 19"/>
          <p:cNvSpPr/>
          <p:nvPr/>
        </p:nvSpPr>
        <p:spPr>
          <a:xfrm>
            <a:off x="4096512" y="4041648"/>
            <a:ext cx="3566160" cy="219456"/>
          </a:xfrm>
          <a:prstGeom prst="rect">
            <a:avLst/>
          </a:prstGeom>
          <a:noFill/>
          <a:ln/>
        </p:spPr>
        <p:txBody>
          <a:bodyPr wrap="square" lIns="0" tIns="0" rIns="0" bIns="0" rtlCol="0" anchor="ctr">
            <a:normAutofit/>
          </a:bodyPr>
          <a:lstStyle/>
          <a:p>
            <a:pPr indent="0" marL="0">
              <a:buNone/>
            </a:pPr>
            <a:r>
              <a:rPr lang="en-US" sz="1150" dirty="0">
                <a:solidFill>
                  <a:srgbClr val="667085"/>
                </a:solidFill>
              </a:rPr>
              <a:t>Form Registry trả đúng bộ biểu mẫu</a:t>
            </a:r>
            <a:endParaRPr lang="en-US" sz="1150" dirty="0"/>
          </a:p>
        </p:txBody>
      </p:sp>
      <p:sp>
        <p:nvSpPr>
          <p:cNvPr id="22" name="Text 20"/>
          <p:cNvSpPr/>
          <p:nvPr/>
        </p:nvSpPr>
        <p:spPr>
          <a:xfrm>
            <a:off x="841248" y="4754880"/>
            <a:ext cx="365760" cy="201168"/>
          </a:xfrm>
          <a:prstGeom prst="rect">
            <a:avLst/>
          </a:prstGeom>
          <a:noFill/>
          <a:ln/>
        </p:spPr>
        <p:txBody>
          <a:bodyPr wrap="square" lIns="0" tIns="0" rIns="0" bIns="0" rtlCol="0" anchor="ctr"/>
          <a:lstStyle/>
          <a:p>
            <a:pPr indent="0" marL="0">
              <a:buNone/>
            </a:pPr>
            <a:r>
              <a:rPr lang="en-US" sz="1200" b="1" dirty="0">
                <a:solidFill>
                  <a:srgbClr val="E30613"/>
                </a:solidFill>
              </a:rPr>
              <a:t>04</a:t>
            </a:r>
            <a:endParaRPr lang="en-US" sz="1200" dirty="0"/>
          </a:p>
        </p:txBody>
      </p:sp>
      <p:sp>
        <p:nvSpPr>
          <p:cNvPr id="23" name="Shape 21"/>
          <p:cNvSpPr/>
          <p:nvPr/>
        </p:nvSpPr>
        <p:spPr>
          <a:xfrm>
            <a:off x="1316736" y="4873752"/>
            <a:ext cx="502920" cy="0"/>
          </a:xfrm>
          <a:prstGeom prst="line">
            <a:avLst/>
          </a:prstGeom>
          <a:noFill/>
          <a:ln w="17780">
            <a:solidFill>
              <a:srgbClr val="E30613"/>
            </a:solidFill>
            <a:prstDash val="solid"/>
            <a:headEnd type="none"/>
            <a:tailEnd type="triangle"/>
          </a:ln>
        </p:spPr>
      </p:sp>
      <p:sp>
        <p:nvSpPr>
          <p:cNvPr id="24" name="Text 22"/>
          <p:cNvSpPr/>
          <p:nvPr/>
        </p:nvSpPr>
        <p:spPr>
          <a:xfrm>
            <a:off x="1938528" y="4709160"/>
            <a:ext cx="1965960" cy="228600"/>
          </a:xfrm>
          <a:prstGeom prst="rect">
            <a:avLst/>
          </a:prstGeom>
          <a:noFill/>
          <a:ln/>
        </p:spPr>
        <p:txBody>
          <a:bodyPr wrap="square" lIns="0" tIns="0" rIns="0" bIns="0" rtlCol="0" anchor="ctr"/>
          <a:lstStyle/>
          <a:p>
            <a:pPr indent="0" marL="0">
              <a:buNone/>
            </a:pPr>
            <a:r>
              <a:rPr lang="en-US" sz="1400" b="1" dirty="0">
                <a:solidFill>
                  <a:srgbClr val="0B1F3A"/>
                </a:solidFill>
              </a:rPr>
              <a:t>Điền &amp; kiểm tra</a:t>
            </a:r>
            <a:endParaRPr lang="en-US" sz="1400" dirty="0"/>
          </a:p>
        </p:txBody>
      </p:sp>
      <p:sp>
        <p:nvSpPr>
          <p:cNvPr id="25" name="Text 23"/>
          <p:cNvSpPr/>
          <p:nvPr/>
        </p:nvSpPr>
        <p:spPr>
          <a:xfrm>
            <a:off x="4096512" y="4727448"/>
            <a:ext cx="3566160" cy="219456"/>
          </a:xfrm>
          <a:prstGeom prst="rect">
            <a:avLst/>
          </a:prstGeom>
          <a:noFill/>
          <a:ln/>
        </p:spPr>
        <p:txBody>
          <a:bodyPr wrap="square" lIns="0" tIns="0" rIns="0" bIns="0" rtlCol="0" anchor="ctr">
            <a:normAutofit/>
          </a:bodyPr>
          <a:lstStyle/>
          <a:p>
            <a:pPr indent="0" marL="0">
              <a:buNone/>
            </a:pPr>
            <a:r>
              <a:rPr lang="en-US" sz="1150" dirty="0">
                <a:solidFill>
                  <a:srgbClr val="667085"/>
                </a:solidFill>
              </a:rPr>
              <a:t>MST, TK, chữ ký số, người ký, checklist</a:t>
            </a:r>
            <a:endParaRPr lang="en-US" sz="1150" dirty="0"/>
          </a:p>
        </p:txBody>
      </p:sp>
      <p:sp>
        <p:nvSpPr>
          <p:cNvPr id="26" name="Shape 24"/>
          <p:cNvSpPr/>
          <p:nvPr/>
        </p:nvSpPr>
        <p:spPr>
          <a:xfrm>
            <a:off x="7909560" y="1234440"/>
            <a:ext cx="3520440" cy="4425696"/>
          </a:xfrm>
          <a:prstGeom prst="roundRect">
            <a:avLst>
              <a:gd name="adj" fmla="val 1818"/>
            </a:avLst>
          </a:prstGeom>
          <a:solidFill>
            <a:srgbClr val="F8FAFC"/>
          </a:solidFill>
          <a:ln w="12700">
            <a:solidFill>
              <a:srgbClr val="D0D5DD"/>
            </a:solidFill>
            <a:prstDash val="solid"/>
          </a:ln>
        </p:spPr>
      </p:sp>
      <p:sp>
        <p:nvSpPr>
          <p:cNvPr id="27" name="Text 25"/>
          <p:cNvSpPr/>
          <p:nvPr/>
        </p:nvSpPr>
        <p:spPr>
          <a:xfrm>
            <a:off x="8211312" y="1554480"/>
            <a:ext cx="2468880" cy="256032"/>
          </a:xfrm>
          <a:prstGeom prst="rect">
            <a:avLst/>
          </a:prstGeom>
          <a:noFill/>
          <a:ln/>
        </p:spPr>
        <p:txBody>
          <a:bodyPr wrap="square" lIns="0" tIns="0" rIns="0" bIns="0" rtlCol="0" anchor="ctr"/>
          <a:lstStyle/>
          <a:p>
            <a:pPr indent="0" marL="0">
              <a:buNone/>
            </a:pPr>
            <a:r>
              <a:rPr lang="en-US" sz="1800" b="1" dirty="0">
                <a:solidFill>
                  <a:srgbClr val="0B1F3A"/>
                </a:solidFill>
              </a:rPr>
              <a:t>Kết quả trên màn hình</a:t>
            </a:r>
            <a:endParaRPr lang="en-US" sz="1800" dirty="0"/>
          </a:p>
        </p:txBody>
      </p:sp>
      <p:sp>
        <p:nvSpPr>
          <p:cNvPr id="28" name="Text 26"/>
          <p:cNvSpPr/>
          <p:nvPr/>
        </p:nvSpPr>
        <p:spPr>
          <a:xfrm>
            <a:off x="8247888" y="2176272"/>
            <a:ext cx="164592" cy="164592"/>
          </a:xfrm>
          <a:prstGeom prst="rect">
            <a:avLst/>
          </a:prstGeom>
          <a:noFill/>
          <a:ln/>
        </p:spPr>
        <p:txBody>
          <a:bodyPr wrap="square" lIns="0" tIns="0" rIns="0" bIns="0" rtlCol="0" anchor="ctr"/>
          <a:lstStyle/>
          <a:p>
            <a:pPr indent="0" marL="0">
              <a:buNone/>
            </a:pPr>
            <a:r>
              <a:rPr lang="en-US" sz="1200" b="1" dirty="0">
                <a:solidFill>
                  <a:srgbClr val="00A676"/>
                </a:solidFill>
              </a:rPr>
              <a:t>✓</a:t>
            </a:r>
            <a:endParaRPr lang="en-US" sz="1200" dirty="0"/>
          </a:p>
        </p:txBody>
      </p:sp>
      <p:sp>
        <p:nvSpPr>
          <p:cNvPr id="29" name="Text 27"/>
          <p:cNvSpPr/>
          <p:nvPr/>
        </p:nvSpPr>
        <p:spPr>
          <a:xfrm>
            <a:off x="8522208" y="2148840"/>
            <a:ext cx="2560320" cy="201168"/>
          </a:xfrm>
          <a:prstGeom prst="rect">
            <a:avLst/>
          </a:prstGeom>
          <a:noFill/>
          <a:ln/>
        </p:spPr>
        <p:txBody>
          <a:bodyPr wrap="square" lIns="0" tIns="0" rIns="0" bIns="0" rtlCol="0" anchor="ctr">
            <a:normAutofit/>
          </a:bodyPr>
          <a:lstStyle/>
          <a:p>
            <a:pPr indent="0" marL="0">
              <a:buNone/>
            </a:pPr>
            <a:r>
              <a:rPr lang="en-US" sz="1150" dirty="0">
                <a:solidFill>
                  <a:srgbClr val="111827"/>
                </a:solidFill>
              </a:rPr>
              <a:t>Bộ mẫu MSB cần dùng</a:t>
            </a:r>
            <a:endParaRPr lang="en-US" sz="1150" dirty="0"/>
          </a:p>
        </p:txBody>
      </p:sp>
      <p:sp>
        <p:nvSpPr>
          <p:cNvPr id="30" name="Text 28"/>
          <p:cNvSpPr/>
          <p:nvPr/>
        </p:nvSpPr>
        <p:spPr>
          <a:xfrm>
            <a:off x="8247888" y="2606040"/>
            <a:ext cx="164592" cy="164592"/>
          </a:xfrm>
          <a:prstGeom prst="rect">
            <a:avLst/>
          </a:prstGeom>
          <a:noFill/>
          <a:ln/>
        </p:spPr>
        <p:txBody>
          <a:bodyPr wrap="square" lIns="0" tIns="0" rIns="0" bIns="0" rtlCol="0" anchor="ctr"/>
          <a:lstStyle/>
          <a:p>
            <a:pPr indent="0" marL="0">
              <a:buNone/>
            </a:pPr>
            <a:r>
              <a:rPr lang="en-US" sz="1200" b="1" dirty="0">
                <a:solidFill>
                  <a:srgbClr val="00A676"/>
                </a:solidFill>
              </a:rPr>
              <a:t>✓</a:t>
            </a:r>
            <a:endParaRPr lang="en-US" sz="1200" dirty="0"/>
          </a:p>
        </p:txBody>
      </p:sp>
      <p:sp>
        <p:nvSpPr>
          <p:cNvPr id="31" name="Text 29"/>
          <p:cNvSpPr/>
          <p:nvPr/>
        </p:nvSpPr>
        <p:spPr>
          <a:xfrm>
            <a:off x="8522208" y="2578608"/>
            <a:ext cx="2560320" cy="201168"/>
          </a:xfrm>
          <a:prstGeom prst="rect">
            <a:avLst/>
          </a:prstGeom>
          <a:noFill/>
          <a:ln/>
        </p:spPr>
        <p:txBody>
          <a:bodyPr wrap="square" lIns="0" tIns="0" rIns="0" bIns="0" rtlCol="0" anchor="ctr">
            <a:normAutofit/>
          </a:bodyPr>
          <a:lstStyle/>
          <a:p>
            <a:pPr indent="0" marL="0">
              <a:buNone/>
            </a:pPr>
            <a:r>
              <a:rPr lang="en-US" sz="1150" dirty="0">
                <a:solidFill>
                  <a:srgbClr val="111827"/>
                </a:solidFill>
              </a:rPr>
              <a:t>Bản điền trước dữ liệu giả lập</a:t>
            </a:r>
            <a:endParaRPr lang="en-US" sz="1150" dirty="0"/>
          </a:p>
        </p:txBody>
      </p:sp>
      <p:sp>
        <p:nvSpPr>
          <p:cNvPr id="32" name="Text 30"/>
          <p:cNvSpPr/>
          <p:nvPr/>
        </p:nvSpPr>
        <p:spPr>
          <a:xfrm>
            <a:off x="8247888" y="3035808"/>
            <a:ext cx="164592" cy="164592"/>
          </a:xfrm>
          <a:prstGeom prst="rect">
            <a:avLst/>
          </a:prstGeom>
          <a:noFill/>
          <a:ln/>
        </p:spPr>
        <p:txBody>
          <a:bodyPr wrap="square" lIns="0" tIns="0" rIns="0" bIns="0" rtlCol="0" anchor="ctr"/>
          <a:lstStyle/>
          <a:p>
            <a:pPr indent="0" marL="0">
              <a:buNone/>
            </a:pPr>
            <a:r>
              <a:rPr lang="en-US" sz="1200" b="1" dirty="0">
                <a:solidFill>
                  <a:srgbClr val="00A676"/>
                </a:solidFill>
              </a:rPr>
              <a:t>✓</a:t>
            </a:r>
            <a:endParaRPr lang="en-US" sz="1200" dirty="0"/>
          </a:p>
        </p:txBody>
      </p:sp>
      <p:sp>
        <p:nvSpPr>
          <p:cNvPr id="33" name="Text 31"/>
          <p:cNvSpPr/>
          <p:nvPr/>
        </p:nvSpPr>
        <p:spPr>
          <a:xfrm>
            <a:off x="8522208" y="3008376"/>
            <a:ext cx="2560320" cy="201168"/>
          </a:xfrm>
          <a:prstGeom prst="rect">
            <a:avLst/>
          </a:prstGeom>
          <a:noFill/>
          <a:ln/>
        </p:spPr>
        <p:txBody>
          <a:bodyPr wrap="square" lIns="0" tIns="0" rIns="0" bIns="0" rtlCol="0" anchor="ctr">
            <a:normAutofit/>
          </a:bodyPr>
          <a:lstStyle/>
          <a:p>
            <a:pPr indent="0" marL="0">
              <a:buNone/>
            </a:pPr>
            <a:r>
              <a:rPr lang="en-US" sz="1150" dirty="0">
                <a:solidFill>
                  <a:srgbClr val="111827"/>
                </a:solidFill>
              </a:rPr>
              <a:t>Danh sách trường còn thiếu</a:t>
            </a:r>
            <a:endParaRPr lang="en-US" sz="1150" dirty="0"/>
          </a:p>
        </p:txBody>
      </p:sp>
      <p:sp>
        <p:nvSpPr>
          <p:cNvPr id="34" name="Text 32"/>
          <p:cNvSpPr/>
          <p:nvPr/>
        </p:nvSpPr>
        <p:spPr>
          <a:xfrm>
            <a:off x="8247888" y="3465576"/>
            <a:ext cx="164592" cy="164592"/>
          </a:xfrm>
          <a:prstGeom prst="rect">
            <a:avLst/>
          </a:prstGeom>
          <a:noFill/>
          <a:ln/>
        </p:spPr>
        <p:txBody>
          <a:bodyPr wrap="square" lIns="0" tIns="0" rIns="0" bIns="0" rtlCol="0" anchor="ctr"/>
          <a:lstStyle/>
          <a:p>
            <a:pPr indent="0" marL="0">
              <a:buNone/>
            </a:pPr>
            <a:r>
              <a:rPr lang="en-US" sz="1200" b="1" dirty="0">
                <a:solidFill>
                  <a:srgbClr val="00A676"/>
                </a:solidFill>
              </a:rPr>
              <a:t>✓</a:t>
            </a:r>
            <a:endParaRPr lang="en-US" sz="1200" dirty="0"/>
          </a:p>
        </p:txBody>
      </p:sp>
      <p:sp>
        <p:nvSpPr>
          <p:cNvPr id="35" name="Text 33"/>
          <p:cNvSpPr/>
          <p:nvPr/>
        </p:nvSpPr>
        <p:spPr>
          <a:xfrm>
            <a:off x="8522208" y="3438144"/>
            <a:ext cx="2560320" cy="201168"/>
          </a:xfrm>
          <a:prstGeom prst="rect">
            <a:avLst/>
          </a:prstGeom>
          <a:noFill/>
          <a:ln/>
        </p:spPr>
        <p:txBody>
          <a:bodyPr wrap="square" lIns="0" tIns="0" rIns="0" bIns="0" rtlCol="0" anchor="ctr">
            <a:normAutofit/>
          </a:bodyPr>
          <a:lstStyle/>
          <a:p>
            <a:pPr indent="0" marL="0">
              <a:buNone/>
            </a:pPr>
            <a:r>
              <a:rPr lang="en-US" sz="1150" dirty="0">
                <a:solidFill>
                  <a:srgbClr val="111827"/>
                </a:solidFill>
              </a:rPr>
              <a:t>Người ký &amp; vị trí ký</a:t>
            </a:r>
            <a:endParaRPr lang="en-US" sz="1150" dirty="0"/>
          </a:p>
        </p:txBody>
      </p:sp>
      <p:sp>
        <p:nvSpPr>
          <p:cNvPr id="36" name="Text 34"/>
          <p:cNvSpPr/>
          <p:nvPr/>
        </p:nvSpPr>
        <p:spPr>
          <a:xfrm>
            <a:off x="8247888" y="3895344"/>
            <a:ext cx="164592" cy="164592"/>
          </a:xfrm>
          <a:prstGeom prst="rect">
            <a:avLst/>
          </a:prstGeom>
          <a:noFill/>
          <a:ln/>
        </p:spPr>
        <p:txBody>
          <a:bodyPr wrap="square" lIns="0" tIns="0" rIns="0" bIns="0" rtlCol="0" anchor="ctr"/>
          <a:lstStyle/>
          <a:p>
            <a:pPr indent="0" marL="0">
              <a:buNone/>
            </a:pPr>
            <a:r>
              <a:rPr lang="en-US" sz="1200" b="1" dirty="0">
                <a:solidFill>
                  <a:srgbClr val="00A676"/>
                </a:solidFill>
              </a:rPr>
              <a:t>✓</a:t>
            </a:r>
            <a:endParaRPr lang="en-US" sz="1200" dirty="0"/>
          </a:p>
        </p:txBody>
      </p:sp>
      <p:sp>
        <p:nvSpPr>
          <p:cNvPr id="37" name="Text 35"/>
          <p:cNvSpPr/>
          <p:nvPr/>
        </p:nvSpPr>
        <p:spPr>
          <a:xfrm>
            <a:off x="8522208" y="3867912"/>
            <a:ext cx="2560320" cy="201168"/>
          </a:xfrm>
          <a:prstGeom prst="rect">
            <a:avLst/>
          </a:prstGeom>
          <a:noFill/>
          <a:ln/>
        </p:spPr>
        <p:txBody>
          <a:bodyPr wrap="square" lIns="0" tIns="0" rIns="0" bIns="0" rtlCol="0" anchor="ctr">
            <a:normAutofit/>
          </a:bodyPr>
          <a:lstStyle/>
          <a:p>
            <a:pPr indent="0" marL="0">
              <a:buNone/>
            </a:pPr>
            <a:r>
              <a:rPr lang="en-US" sz="1150" dirty="0">
                <a:solidFill>
                  <a:srgbClr val="111827"/>
                </a:solidFill>
              </a:rPr>
              <a:t>Checklist hồ sơ kèm theo</a:t>
            </a:r>
            <a:endParaRPr lang="en-US" sz="1150" dirty="0"/>
          </a:p>
        </p:txBody>
      </p:sp>
      <p:sp>
        <p:nvSpPr>
          <p:cNvPr id="38" name="Text 36"/>
          <p:cNvSpPr/>
          <p:nvPr/>
        </p:nvSpPr>
        <p:spPr>
          <a:xfrm>
            <a:off x="8247888" y="4325112"/>
            <a:ext cx="164592" cy="164592"/>
          </a:xfrm>
          <a:prstGeom prst="rect">
            <a:avLst/>
          </a:prstGeom>
          <a:noFill/>
          <a:ln/>
        </p:spPr>
        <p:txBody>
          <a:bodyPr wrap="square" lIns="0" tIns="0" rIns="0" bIns="0" rtlCol="0" anchor="ctr"/>
          <a:lstStyle/>
          <a:p>
            <a:pPr indent="0" marL="0">
              <a:buNone/>
            </a:pPr>
            <a:r>
              <a:rPr lang="en-US" sz="1200" b="1" dirty="0">
                <a:solidFill>
                  <a:srgbClr val="00A676"/>
                </a:solidFill>
              </a:rPr>
              <a:t>✓</a:t>
            </a:r>
            <a:endParaRPr lang="en-US" sz="1200" dirty="0"/>
          </a:p>
        </p:txBody>
      </p:sp>
      <p:sp>
        <p:nvSpPr>
          <p:cNvPr id="39" name="Text 37"/>
          <p:cNvSpPr/>
          <p:nvPr/>
        </p:nvSpPr>
        <p:spPr>
          <a:xfrm>
            <a:off x="8522208" y="4297680"/>
            <a:ext cx="2560320" cy="201168"/>
          </a:xfrm>
          <a:prstGeom prst="rect">
            <a:avLst/>
          </a:prstGeom>
          <a:noFill/>
          <a:ln/>
        </p:spPr>
        <p:txBody>
          <a:bodyPr wrap="square" lIns="0" tIns="0" rIns="0" bIns="0" rtlCol="0" anchor="ctr">
            <a:normAutofit/>
          </a:bodyPr>
          <a:lstStyle/>
          <a:p>
            <a:pPr indent="0" marL="0">
              <a:buNone/>
            </a:pPr>
            <a:r>
              <a:rPr lang="en-US" sz="1150" dirty="0">
                <a:solidFill>
                  <a:srgbClr val="111827"/>
                </a:solidFill>
              </a:rPr>
              <a:t>Status: READY / MISSING / REVIEW</a:t>
            </a:r>
            <a:endParaRPr lang="en-US" sz="1150" dirty="0"/>
          </a:p>
        </p:txBody>
      </p:sp>
      <p:sp>
        <p:nvSpPr>
          <p:cNvPr id="40" name="Shape 38"/>
          <p:cNvSpPr/>
          <p:nvPr/>
        </p:nvSpPr>
        <p:spPr>
          <a:xfrm>
            <a:off x="8092440" y="5138928"/>
            <a:ext cx="3017520" cy="338328"/>
          </a:xfrm>
          <a:prstGeom prst="roundRect">
            <a:avLst>
              <a:gd name="adj" fmla="val 10811"/>
            </a:avLst>
          </a:prstGeom>
          <a:solidFill>
            <a:srgbClr val="E7F7F1"/>
          </a:solidFill>
          <a:ln w="17780">
            <a:solidFill>
              <a:srgbClr val="00A676"/>
            </a:solidFill>
            <a:prstDash val="solid"/>
          </a:ln>
        </p:spPr>
      </p:sp>
      <p:sp>
        <p:nvSpPr>
          <p:cNvPr id="41" name="Text 39"/>
          <p:cNvSpPr/>
          <p:nvPr/>
        </p:nvSpPr>
        <p:spPr>
          <a:xfrm>
            <a:off x="8165592" y="5202936"/>
            <a:ext cx="2871216" cy="146304"/>
          </a:xfrm>
          <a:prstGeom prst="rect">
            <a:avLst/>
          </a:prstGeom>
          <a:noFill/>
          <a:ln/>
        </p:spPr>
        <p:txBody>
          <a:bodyPr wrap="square" lIns="0" tIns="0" rIns="0" bIns="0" rtlCol="0" anchor="ctr">
            <a:normAutofit/>
          </a:bodyPr>
          <a:lstStyle/>
          <a:p>
            <a:pPr algn="ctr" indent="0" marL="0">
              <a:buNone/>
            </a:pPr>
            <a:r>
              <a:rPr lang="en-US" sz="940" b="1" dirty="0">
                <a:solidFill>
                  <a:srgbClr val="00A676"/>
                </a:solidFill>
              </a:rPr>
              <a:t>Điểm demo cần nhấn: AI tự chọn mẫu, không bắt khách hàng chọn form</a:t>
            </a:r>
            <a:endParaRPr lang="en-US" sz="9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84048" y="201168"/>
            <a:ext cx="2103120" cy="201168"/>
          </a:xfrm>
          <a:prstGeom prst="rect">
            <a:avLst/>
          </a:prstGeom>
          <a:noFill/>
          <a:ln/>
        </p:spPr>
        <p:txBody>
          <a:bodyPr wrap="square" lIns="0" tIns="0" rIns="0" bIns="0" rtlCol="0" anchor="ctr"/>
          <a:lstStyle/>
          <a:p>
            <a:pPr indent="0" marL="0">
              <a:buNone/>
            </a:pPr>
            <a:r>
              <a:rPr lang="en-US" sz="950" b="1" dirty="0">
                <a:solidFill>
                  <a:srgbClr val="E30613"/>
                </a:solidFill>
                <a:latin typeface="Arial" pitchFamily="34" charset="0"/>
                <a:ea typeface="Arial" pitchFamily="34" charset="-122"/>
                <a:cs typeface="Arial" pitchFamily="34" charset="-120"/>
              </a:rPr>
              <a:t>MSB SmartForm AI</a:t>
            </a:r>
            <a:endParaRPr lang="en-US" sz="950" dirty="0"/>
          </a:p>
        </p:txBody>
      </p:sp>
      <p:sp>
        <p:nvSpPr>
          <p:cNvPr id="3" name="Text 1"/>
          <p:cNvSpPr/>
          <p:nvPr/>
        </p:nvSpPr>
        <p:spPr>
          <a:xfrm>
            <a:off x="7635240" y="201168"/>
            <a:ext cx="3977640" cy="201168"/>
          </a:xfrm>
          <a:prstGeom prst="rect">
            <a:avLst/>
          </a:prstGeom>
          <a:noFill/>
          <a:ln/>
        </p:spPr>
        <p:txBody>
          <a:bodyPr wrap="square" lIns="0" tIns="0" rIns="0" bIns="0" rtlCol="0" anchor="ctr"/>
          <a:lstStyle/>
          <a:p>
            <a:pPr algn="r" indent="0" marL="0">
              <a:buNone/>
            </a:pPr>
            <a:r>
              <a:rPr lang="en-US" sz="880" dirty="0">
                <a:solidFill>
                  <a:srgbClr val="667085"/>
                </a:solidFill>
                <a:latin typeface="Arial" pitchFamily="34" charset="0"/>
                <a:ea typeface="Arial" pitchFamily="34" charset="-122"/>
                <a:cs typeface="Arial" pitchFamily="34" charset="-120"/>
              </a:rPr>
              <a:t>AI FOR CUSTOMERS • MSB AI Hackathon 2026</a:t>
            </a:r>
            <a:endParaRPr lang="en-US" sz="880" dirty="0"/>
          </a:p>
        </p:txBody>
      </p:sp>
      <p:sp>
        <p:nvSpPr>
          <p:cNvPr id="4" name="Shape 2"/>
          <p:cNvSpPr/>
          <p:nvPr/>
        </p:nvSpPr>
        <p:spPr>
          <a:xfrm>
            <a:off x="384048" y="502920"/>
            <a:ext cx="11430000" cy="0"/>
          </a:xfrm>
          <a:prstGeom prst="line">
            <a:avLst/>
          </a:prstGeom>
          <a:noFill/>
          <a:ln w="9525">
            <a:solidFill>
              <a:srgbClr val="E5E7EB"/>
            </a:solidFill>
            <a:prstDash val="solid"/>
          </a:ln>
        </p:spPr>
      </p:sp>
      <p:sp>
        <p:nvSpPr>
          <p:cNvPr id="5" name="Text 3"/>
          <p:cNvSpPr/>
          <p:nvPr/>
        </p:nvSpPr>
        <p:spPr>
          <a:xfrm>
            <a:off x="658368" y="685800"/>
            <a:ext cx="5715000" cy="393192"/>
          </a:xfrm>
          <a:prstGeom prst="rect">
            <a:avLst/>
          </a:prstGeom>
          <a:noFill/>
          <a:ln/>
        </p:spPr>
        <p:txBody>
          <a:bodyPr wrap="square" lIns="0" tIns="0" rIns="0" bIns="0" rtlCol="0" anchor="ctr"/>
          <a:lstStyle/>
          <a:p>
            <a:pPr indent="0" marL="0">
              <a:buNone/>
            </a:pPr>
            <a:r>
              <a:rPr lang="en-US" sz="2400" b="1" dirty="0">
                <a:solidFill>
                  <a:srgbClr val="0B1F3A"/>
                </a:solidFill>
                <a:latin typeface="Arial" pitchFamily="34" charset="0"/>
                <a:ea typeface="Arial" pitchFamily="34" charset="-122"/>
                <a:cs typeface="Arial" pitchFamily="34" charset="-120"/>
              </a:rPr>
              <a:t>Kiến trúc sản phẩm: Multi-step Agent có kiểm soát</a:t>
            </a:r>
            <a:endParaRPr lang="en-US" sz="2400" dirty="0"/>
          </a:p>
        </p:txBody>
      </p:sp>
      <p:sp>
        <p:nvSpPr>
          <p:cNvPr id="6" name="Text 4"/>
          <p:cNvSpPr/>
          <p:nvPr/>
        </p:nvSpPr>
        <p:spPr>
          <a:xfrm>
            <a:off x="11311128" y="6355080"/>
            <a:ext cx="411480" cy="182880"/>
          </a:xfrm>
          <a:prstGeom prst="rect">
            <a:avLst/>
          </a:prstGeom>
          <a:noFill/>
          <a:ln/>
        </p:spPr>
        <p:txBody>
          <a:bodyPr wrap="square" lIns="0" tIns="0" rIns="0" bIns="0" rtlCol="0" anchor="ctr"/>
          <a:lstStyle/>
          <a:p>
            <a:pPr algn="r" indent="0" marL="0">
              <a:buNone/>
            </a:pPr>
            <a:r>
              <a:rPr lang="en-US" sz="900" dirty="0">
                <a:solidFill>
                  <a:srgbClr val="98A2B3"/>
                </a:solidFill>
              </a:rPr>
              <a:t>06</a:t>
            </a:r>
            <a:endParaRPr lang="en-US" sz="900" dirty="0"/>
          </a:p>
        </p:txBody>
      </p:sp>
      <p:pic>
        <p:nvPicPr>
          <p:cNvPr id="7" name="Image 0" descr="/mnt/data/wide_isometric_vector_3d_rendered_fintech_ai_workf_batch_2.png">    </p:cNvPr>
          <p:cNvPicPr>
            <a:picLocks noChangeAspect="1"/>
          </p:cNvPicPr>
          <p:nvPr/>
        </p:nvPicPr>
        <p:blipFill>
          <a:blip r:embed="rId1"/>
          <a:srcRect l="20000" r="29039" t="10000" b="10000"/>
          <a:stretch/>
        </p:blipFill>
        <p:spPr>
          <a:xfrm>
            <a:off x="6675120" y="1143000"/>
            <a:ext cx="4709160" cy="4160520"/>
          </a:xfrm>
          <a:prstGeom prst="rect">
            <a:avLst/>
          </a:prstGeom>
        </p:spPr>
      </p:pic>
      <p:sp>
        <p:nvSpPr>
          <p:cNvPr id="8" name="Text 5"/>
          <p:cNvSpPr/>
          <p:nvPr/>
        </p:nvSpPr>
        <p:spPr>
          <a:xfrm>
            <a:off x="731520" y="1289304"/>
            <a:ext cx="320040" cy="182880"/>
          </a:xfrm>
          <a:prstGeom prst="rect">
            <a:avLst/>
          </a:prstGeom>
          <a:noFill/>
          <a:ln/>
        </p:spPr>
        <p:txBody>
          <a:bodyPr wrap="square" lIns="0" tIns="0" rIns="0" bIns="0" rtlCol="0" anchor="ctr"/>
          <a:lstStyle/>
          <a:p>
            <a:pPr indent="0" marL="0">
              <a:buNone/>
            </a:pPr>
            <a:r>
              <a:rPr lang="en-US" sz="1100" b="1" dirty="0">
                <a:solidFill>
                  <a:srgbClr val="E30613"/>
                </a:solidFill>
              </a:rPr>
              <a:t>01</a:t>
            </a:r>
            <a:endParaRPr lang="en-US" sz="1100" dirty="0"/>
          </a:p>
        </p:txBody>
      </p:sp>
      <p:sp>
        <p:nvSpPr>
          <p:cNvPr id="9" name="Text 6"/>
          <p:cNvSpPr/>
          <p:nvPr/>
        </p:nvSpPr>
        <p:spPr>
          <a:xfrm>
            <a:off x="1216152" y="1207008"/>
            <a:ext cx="2560320" cy="201168"/>
          </a:xfrm>
          <a:prstGeom prst="rect">
            <a:avLst/>
          </a:prstGeom>
          <a:noFill/>
          <a:ln/>
        </p:spPr>
        <p:txBody>
          <a:bodyPr wrap="square" lIns="0" tIns="0" rIns="0" bIns="0" rtlCol="0" anchor="ctr"/>
          <a:lstStyle/>
          <a:p>
            <a:pPr indent="0" marL="0">
              <a:buNone/>
            </a:pPr>
            <a:r>
              <a:rPr lang="en-US" sz="1350" b="1" dirty="0">
                <a:solidFill>
                  <a:srgbClr val="0B1F3A"/>
                </a:solidFill>
              </a:rPr>
              <a:t>Knowledge Base</a:t>
            </a:r>
            <a:endParaRPr lang="en-US" sz="1350" dirty="0"/>
          </a:p>
        </p:txBody>
      </p:sp>
      <p:sp>
        <p:nvSpPr>
          <p:cNvPr id="10" name="Text 7"/>
          <p:cNvSpPr/>
          <p:nvPr/>
        </p:nvSpPr>
        <p:spPr>
          <a:xfrm>
            <a:off x="3794760" y="1225296"/>
            <a:ext cx="2423160" cy="219456"/>
          </a:xfrm>
          <a:prstGeom prst="rect">
            <a:avLst/>
          </a:prstGeom>
          <a:noFill/>
          <a:ln/>
        </p:spPr>
        <p:txBody>
          <a:bodyPr wrap="square" lIns="0" tIns="0" rIns="0" bIns="0" rtlCol="0" anchor="ctr">
            <a:normAutofit/>
          </a:bodyPr>
          <a:lstStyle/>
          <a:p>
            <a:pPr indent="0" marL="0">
              <a:buNone/>
            </a:pPr>
            <a:r>
              <a:rPr lang="en-US" sz="1080" dirty="0">
                <a:solidFill>
                  <a:srgbClr val="667085"/>
                </a:solidFill>
              </a:rPr>
              <a:t>Toàn bộ mẫu biểu MSB + hướng dẫn nghiệp vụ</a:t>
            </a:r>
            <a:endParaRPr lang="en-US" sz="1080" dirty="0"/>
          </a:p>
        </p:txBody>
      </p:sp>
      <p:sp>
        <p:nvSpPr>
          <p:cNvPr id="11" name="Text 8"/>
          <p:cNvSpPr/>
          <p:nvPr/>
        </p:nvSpPr>
        <p:spPr>
          <a:xfrm>
            <a:off x="731520" y="2002536"/>
            <a:ext cx="320040" cy="182880"/>
          </a:xfrm>
          <a:prstGeom prst="rect">
            <a:avLst/>
          </a:prstGeom>
          <a:noFill/>
          <a:ln/>
        </p:spPr>
        <p:txBody>
          <a:bodyPr wrap="square" lIns="0" tIns="0" rIns="0" bIns="0" rtlCol="0" anchor="ctr"/>
          <a:lstStyle/>
          <a:p>
            <a:pPr indent="0" marL="0">
              <a:buNone/>
            </a:pPr>
            <a:r>
              <a:rPr lang="en-US" sz="1100" b="1" dirty="0">
                <a:solidFill>
                  <a:srgbClr val="E30613"/>
                </a:solidFill>
              </a:rPr>
              <a:t>02</a:t>
            </a:r>
            <a:endParaRPr lang="en-US" sz="1100" dirty="0"/>
          </a:p>
        </p:txBody>
      </p:sp>
      <p:sp>
        <p:nvSpPr>
          <p:cNvPr id="12" name="Text 9"/>
          <p:cNvSpPr/>
          <p:nvPr/>
        </p:nvSpPr>
        <p:spPr>
          <a:xfrm>
            <a:off x="1216152" y="1920240"/>
            <a:ext cx="2560320" cy="201168"/>
          </a:xfrm>
          <a:prstGeom prst="rect">
            <a:avLst/>
          </a:prstGeom>
          <a:noFill/>
          <a:ln/>
        </p:spPr>
        <p:txBody>
          <a:bodyPr wrap="square" lIns="0" tIns="0" rIns="0" bIns="0" rtlCol="0" anchor="ctr"/>
          <a:lstStyle/>
          <a:p>
            <a:pPr indent="0" marL="0">
              <a:buNone/>
            </a:pPr>
            <a:r>
              <a:rPr lang="en-US" sz="1350" b="1" dirty="0">
                <a:solidFill>
                  <a:srgbClr val="0B1F3A"/>
                </a:solidFill>
              </a:rPr>
              <a:t>Form Registry</a:t>
            </a:r>
            <a:endParaRPr lang="en-US" sz="1350" dirty="0"/>
          </a:p>
        </p:txBody>
      </p:sp>
      <p:sp>
        <p:nvSpPr>
          <p:cNvPr id="13" name="Text 10"/>
          <p:cNvSpPr/>
          <p:nvPr/>
        </p:nvSpPr>
        <p:spPr>
          <a:xfrm>
            <a:off x="3794760" y="1938528"/>
            <a:ext cx="2423160" cy="219456"/>
          </a:xfrm>
          <a:prstGeom prst="rect">
            <a:avLst/>
          </a:prstGeom>
          <a:noFill/>
          <a:ln/>
        </p:spPr>
        <p:txBody>
          <a:bodyPr wrap="square" lIns="0" tIns="0" rIns="0" bIns="0" rtlCol="0" anchor="ctr">
            <a:normAutofit/>
          </a:bodyPr>
          <a:lstStyle/>
          <a:p>
            <a:pPr indent="0" marL="0">
              <a:buNone/>
            </a:pPr>
            <a:r>
              <a:rPr lang="en-US" sz="1080" dirty="0">
                <a:solidFill>
                  <a:srgbClr val="667085"/>
                </a:solidFill>
              </a:rPr>
              <a:t>Mã mẫu, đối tượng, nghiệp vụ, trường bắt buộc, người ký</a:t>
            </a:r>
            <a:endParaRPr lang="en-US" sz="1080" dirty="0"/>
          </a:p>
        </p:txBody>
      </p:sp>
      <p:sp>
        <p:nvSpPr>
          <p:cNvPr id="14" name="Text 11"/>
          <p:cNvSpPr/>
          <p:nvPr/>
        </p:nvSpPr>
        <p:spPr>
          <a:xfrm>
            <a:off x="731520" y="2715768"/>
            <a:ext cx="320040" cy="182880"/>
          </a:xfrm>
          <a:prstGeom prst="rect">
            <a:avLst/>
          </a:prstGeom>
          <a:noFill/>
          <a:ln/>
        </p:spPr>
        <p:txBody>
          <a:bodyPr wrap="square" lIns="0" tIns="0" rIns="0" bIns="0" rtlCol="0" anchor="ctr"/>
          <a:lstStyle/>
          <a:p>
            <a:pPr indent="0" marL="0">
              <a:buNone/>
            </a:pPr>
            <a:r>
              <a:rPr lang="en-US" sz="1100" b="1" dirty="0">
                <a:solidFill>
                  <a:srgbClr val="E30613"/>
                </a:solidFill>
              </a:rPr>
              <a:t>03</a:t>
            </a:r>
            <a:endParaRPr lang="en-US" sz="1100" dirty="0"/>
          </a:p>
        </p:txBody>
      </p:sp>
      <p:sp>
        <p:nvSpPr>
          <p:cNvPr id="15" name="Text 12"/>
          <p:cNvSpPr/>
          <p:nvPr/>
        </p:nvSpPr>
        <p:spPr>
          <a:xfrm>
            <a:off x="1216152" y="2633472"/>
            <a:ext cx="2560320" cy="201168"/>
          </a:xfrm>
          <a:prstGeom prst="rect">
            <a:avLst/>
          </a:prstGeom>
          <a:noFill/>
          <a:ln/>
        </p:spPr>
        <p:txBody>
          <a:bodyPr wrap="square" lIns="0" tIns="0" rIns="0" bIns="0" rtlCol="0" anchor="ctr"/>
          <a:lstStyle/>
          <a:p>
            <a:pPr indent="0" marL="0">
              <a:buNone/>
            </a:pPr>
            <a:r>
              <a:rPr lang="en-US" sz="1350" b="1" dirty="0">
                <a:solidFill>
                  <a:srgbClr val="0B1F3A"/>
                </a:solidFill>
              </a:rPr>
              <a:t>Intent &amp; Entity Parser</a:t>
            </a:r>
            <a:endParaRPr lang="en-US" sz="1350" dirty="0"/>
          </a:p>
        </p:txBody>
      </p:sp>
      <p:sp>
        <p:nvSpPr>
          <p:cNvPr id="16" name="Text 13"/>
          <p:cNvSpPr/>
          <p:nvPr/>
        </p:nvSpPr>
        <p:spPr>
          <a:xfrm>
            <a:off x="3794760" y="2651760"/>
            <a:ext cx="2423160" cy="219456"/>
          </a:xfrm>
          <a:prstGeom prst="rect">
            <a:avLst/>
          </a:prstGeom>
          <a:noFill/>
          <a:ln/>
        </p:spPr>
        <p:txBody>
          <a:bodyPr wrap="square" lIns="0" tIns="0" rIns="0" bIns="0" rtlCol="0" anchor="ctr">
            <a:normAutofit/>
          </a:bodyPr>
          <a:lstStyle/>
          <a:p>
            <a:pPr indent="0" marL="0">
              <a:buNone/>
            </a:pPr>
            <a:r>
              <a:rPr lang="en-US" sz="1080" dirty="0">
                <a:solidFill>
                  <a:srgbClr val="667085"/>
                </a:solidFill>
              </a:rPr>
              <a:t>Hiểu loại khách hàng, nhu cầu, vai trò eBank, eTax, chữ ký số</a:t>
            </a:r>
            <a:endParaRPr lang="en-US" sz="1080" dirty="0"/>
          </a:p>
        </p:txBody>
      </p:sp>
      <p:sp>
        <p:nvSpPr>
          <p:cNvPr id="17" name="Text 14"/>
          <p:cNvSpPr/>
          <p:nvPr/>
        </p:nvSpPr>
        <p:spPr>
          <a:xfrm>
            <a:off x="731520" y="3429000"/>
            <a:ext cx="320040" cy="182880"/>
          </a:xfrm>
          <a:prstGeom prst="rect">
            <a:avLst/>
          </a:prstGeom>
          <a:noFill/>
          <a:ln/>
        </p:spPr>
        <p:txBody>
          <a:bodyPr wrap="square" lIns="0" tIns="0" rIns="0" bIns="0" rtlCol="0" anchor="ctr"/>
          <a:lstStyle/>
          <a:p>
            <a:pPr indent="0" marL="0">
              <a:buNone/>
            </a:pPr>
            <a:r>
              <a:rPr lang="en-US" sz="1100" b="1" dirty="0">
                <a:solidFill>
                  <a:srgbClr val="E30613"/>
                </a:solidFill>
              </a:rPr>
              <a:t>04</a:t>
            </a:r>
            <a:endParaRPr lang="en-US" sz="1100" dirty="0"/>
          </a:p>
        </p:txBody>
      </p:sp>
      <p:sp>
        <p:nvSpPr>
          <p:cNvPr id="18" name="Text 15"/>
          <p:cNvSpPr/>
          <p:nvPr/>
        </p:nvSpPr>
        <p:spPr>
          <a:xfrm>
            <a:off x="1216152" y="3346704"/>
            <a:ext cx="2560320" cy="201168"/>
          </a:xfrm>
          <a:prstGeom prst="rect">
            <a:avLst/>
          </a:prstGeom>
          <a:noFill/>
          <a:ln/>
        </p:spPr>
        <p:txBody>
          <a:bodyPr wrap="square" lIns="0" tIns="0" rIns="0" bIns="0" rtlCol="0" anchor="ctr"/>
          <a:lstStyle/>
          <a:p>
            <a:pPr indent="0" marL="0">
              <a:buNone/>
            </a:pPr>
            <a:r>
              <a:rPr lang="en-US" sz="1350" b="1" dirty="0">
                <a:solidFill>
                  <a:srgbClr val="0B1F3A"/>
                </a:solidFill>
              </a:rPr>
              <a:t>Drafting Engine</a:t>
            </a:r>
            <a:endParaRPr lang="en-US" sz="1350" dirty="0"/>
          </a:p>
        </p:txBody>
      </p:sp>
      <p:sp>
        <p:nvSpPr>
          <p:cNvPr id="19" name="Text 16"/>
          <p:cNvSpPr/>
          <p:nvPr/>
        </p:nvSpPr>
        <p:spPr>
          <a:xfrm>
            <a:off x="3794760" y="3364992"/>
            <a:ext cx="2423160" cy="219456"/>
          </a:xfrm>
          <a:prstGeom prst="rect">
            <a:avLst/>
          </a:prstGeom>
          <a:noFill/>
          <a:ln/>
        </p:spPr>
        <p:txBody>
          <a:bodyPr wrap="square" lIns="0" tIns="0" rIns="0" bIns="0" rtlCol="0" anchor="ctr">
            <a:normAutofit/>
          </a:bodyPr>
          <a:lstStyle/>
          <a:p>
            <a:pPr indent="0" marL="0">
              <a:buNone/>
            </a:pPr>
            <a:r>
              <a:rPr lang="en-US" sz="1080" dirty="0">
                <a:solidFill>
                  <a:srgbClr val="667085"/>
                </a:solidFill>
              </a:rPr>
              <a:t>Điền mẫu, đánh dấu [CHƯA CÓ THÔNG TIN]</a:t>
            </a:r>
            <a:endParaRPr lang="en-US" sz="1080" dirty="0"/>
          </a:p>
        </p:txBody>
      </p:sp>
      <p:sp>
        <p:nvSpPr>
          <p:cNvPr id="20" name="Text 17"/>
          <p:cNvSpPr/>
          <p:nvPr/>
        </p:nvSpPr>
        <p:spPr>
          <a:xfrm>
            <a:off x="731520" y="4142232"/>
            <a:ext cx="320040" cy="182880"/>
          </a:xfrm>
          <a:prstGeom prst="rect">
            <a:avLst/>
          </a:prstGeom>
          <a:noFill/>
          <a:ln/>
        </p:spPr>
        <p:txBody>
          <a:bodyPr wrap="square" lIns="0" tIns="0" rIns="0" bIns="0" rtlCol="0" anchor="ctr"/>
          <a:lstStyle/>
          <a:p>
            <a:pPr indent="0" marL="0">
              <a:buNone/>
            </a:pPr>
            <a:r>
              <a:rPr lang="en-US" sz="1100" b="1" dirty="0">
                <a:solidFill>
                  <a:srgbClr val="E30613"/>
                </a:solidFill>
              </a:rPr>
              <a:t>05</a:t>
            </a:r>
            <a:endParaRPr lang="en-US" sz="1100" dirty="0"/>
          </a:p>
        </p:txBody>
      </p:sp>
      <p:sp>
        <p:nvSpPr>
          <p:cNvPr id="21" name="Text 18"/>
          <p:cNvSpPr/>
          <p:nvPr/>
        </p:nvSpPr>
        <p:spPr>
          <a:xfrm>
            <a:off x="1216152" y="4059936"/>
            <a:ext cx="2560320" cy="201168"/>
          </a:xfrm>
          <a:prstGeom prst="rect">
            <a:avLst/>
          </a:prstGeom>
          <a:noFill/>
          <a:ln/>
        </p:spPr>
        <p:txBody>
          <a:bodyPr wrap="square" lIns="0" tIns="0" rIns="0" bIns="0" rtlCol="0" anchor="ctr"/>
          <a:lstStyle/>
          <a:p>
            <a:pPr indent="0" marL="0">
              <a:buNone/>
            </a:pPr>
            <a:r>
              <a:rPr lang="en-US" sz="1350" b="1" dirty="0">
                <a:solidFill>
                  <a:srgbClr val="0B1F3A"/>
                </a:solidFill>
              </a:rPr>
              <a:t>Validation Engine</a:t>
            </a:r>
            <a:endParaRPr lang="en-US" sz="1350" dirty="0"/>
          </a:p>
        </p:txBody>
      </p:sp>
      <p:sp>
        <p:nvSpPr>
          <p:cNvPr id="22" name="Text 19"/>
          <p:cNvSpPr/>
          <p:nvPr/>
        </p:nvSpPr>
        <p:spPr>
          <a:xfrm>
            <a:off x="3794760" y="4078224"/>
            <a:ext cx="2423160" cy="219456"/>
          </a:xfrm>
          <a:prstGeom prst="rect">
            <a:avLst/>
          </a:prstGeom>
          <a:noFill/>
          <a:ln/>
        </p:spPr>
        <p:txBody>
          <a:bodyPr wrap="square" lIns="0" tIns="0" rIns="0" bIns="0" rtlCol="0" anchor="ctr">
            <a:normAutofit/>
          </a:bodyPr>
          <a:lstStyle/>
          <a:p>
            <a:pPr indent="0" marL="0">
              <a:buNone/>
            </a:pPr>
            <a:r>
              <a:rPr lang="en-US" sz="1080" dirty="0">
                <a:solidFill>
                  <a:srgbClr val="667085"/>
                </a:solidFill>
              </a:rPr>
              <a:t>Kiểm tra MST, TK, quyền ký, vai trò, hạn mức, dữ liệu nhạy cảm</a:t>
            </a:r>
            <a:endParaRPr lang="en-US" sz="1080" dirty="0"/>
          </a:p>
        </p:txBody>
      </p:sp>
      <p:sp>
        <p:nvSpPr>
          <p:cNvPr id="23" name="Text 20"/>
          <p:cNvSpPr/>
          <p:nvPr/>
        </p:nvSpPr>
        <p:spPr>
          <a:xfrm>
            <a:off x="731520" y="4855464"/>
            <a:ext cx="320040" cy="182880"/>
          </a:xfrm>
          <a:prstGeom prst="rect">
            <a:avLst/>
          </a:prstGeom>
          <a:noFill/>
          <a:ln/>
        </p:spPr>
        <p:txBody>
          <a:bodyPr wrap="square" lIns="0" tIns="0" rIns="0" bIns="0" rtlCol="0" anchor="ctr"/>
          <a:lstStyle/>
          <a:p>
            <a:pPr indent="0" marL="0">
              <a:buNone/>
            </a:pPr>
            <a:r>
              <a:rPr lang="en-US" sz="1100" b="1" dirty="0">
                <a:solidFill>
                  <a:srgbClr val="E30613"/>
                </a:solidFill>
              </a:rPr>
              <a:t>06</a:t>
            </a:r>
            <a:endParaRPr lang="en-US" sz="1100" dirty="0"/>
          </a:p>
        </p:txBody>
      </p:sp>
      <p:sp>
        <p:nvSpPr>
          <p:cNvPr id="24" name="Text 21"/>
          <p:cNvSpPr/>
          <p:nvPr/>
        </p:nvSpPr>
        <p:spPr>
          <a:xfrm>
            <a:off x="1216152" y="4773168"/>
            <a:ext cx="2560320" cy="201168"/>
          </a:xfrm>
          <a:prstGeom prst="rect">
            <a:avLst/>
          </a:prstGeom>
          <a:noFill/>
          <a:ln/>
        </p:spPr>
        <p:txBody>
          <a:bodyPr wrap="square" lIns="0" tIns="0" rIns="0" bIns="0" rtlCol="0" anchor="ctr"/>
          <a:lstStyle/>
          <a:p>
            <a:pPr indent="0" marL="0">
              <a:buNone/>
            </a:pPr>
            <a:r>
              <a:rPr lang="en-US" sz="1350" b="1" dirty="0">
                <a:solidFill>
                  <a:srgbClr val="0B1F3A"/>
                </a:solidFill>
              </a:rPr>
              <a:t>Output Layer</a:t>
            </a:r>
            <a:endParaRPr lang="en-US" sz="1350" dirty="0"/>
          </a:p>
        </p:txBody>
      </p:sp>
      <p:sp>
        <p:nvSpPr>
          <p:cNvPr id="25" name="Text 22"/>
          <p:cNvSpPr/>
          <p:nvPr/>
        </p:nvSpPr>
        <p:spPr>
          <a:xfrm>
            <a:off x="3794760" y="4791456"/>
            <a:ext cx="2423160" cy="219456"/>
          </a:xfrm>
          <a:prstGeom prst="rect">
            <a:avLst/>
          </a:prstGeom>
          <a:noFill/>
          <a:ln/>
        </p:spPr>
        <p:txBody>
          <a:bodyPr wrap="square" lIns="0" tIns="0" rIns="0" bIns="0" rtlCol="0" anchor="ctr">
            <a:normAutofit/>
          </a:bodyPr>
          <a:lstStyle/>
          <a:p>
            <a:pPr indent="0" marL="0">
              <a:buNone/>
            </a:pPr>
            <a:r>
              <a:rPr lang="en-US" sz="1080" dirty="0">
                <a:solidFill>
                  <a:srgbClr val="667085"/>
                </a:solidFill>
              </a:rPr>
              <a:t>Preview form, checklist, status, hướng dẫn nộp hồ sơ</a:t>
            </a:r>
            <a:endParaRPr lang="en-US" sz="1080" dirty="0"/>
          </a:p>
        </p:txBody>
      </p:sp>
      <p:sp>
        <p:nvSpPr>
          <p:cNvPr id="26" name="Shape 23"/>
          <p:cNvSpPr/>
          <p:nvPr/>
        </p:nvSpPr>
        <p:spPr>
          <a:xfrm>
            <a:off x="713232" y="5806440"/>
            <a:ext cx="5376672" cy="438912"/>
          </a:xfrm>
          <a:prstGeom prst="roundRect">
            <a:avLst>
              <a:gd name="adj" fmla="val 8333"/>
            </a:avLst>
          </a:prstGeom>
          <a:solidFill>
            <a:srgbClr val="FFFFFF"/>
          </a:solidFill>
          <a:ln w="12700">
            <a:solidFill>
              <a:srgbClr val="EAECF0"/>
            </a:solidFill>
            <a:prstDash val="solid"/>
          </a:ln>
        </p:spPr>
      </p:sp>
      <p:sp>
        <p:nvSpPr>
          <p:cNvPr id="27" name="Text 24"/>
          <p:cNvSpPr/>
          <p:nvPr/>
        </p:nvSpPr>
        <p:spPr>
          <a:xfrm>
            <a:off x="914400" y="5961888"/>
            <a:ext cx="4983480" cy="128016"/>
          </a:xfrm>
          <a:prstGeom prst="rect">
            <a:avLst/>
          </a:prstGeom>
          <a:noFill/>
          <a:ln/>
        </p:spPr>
        <p:txBody>
          <a:bodyPr wrap="square" lIns="0" tIns="0" rIns="0" bIns="0" rtlCol="0" anchor="ctr">
            <a:normAutofit/>
          </a:bodyPr>
          <a:lstStyle/>
          <a:p>
            <a:pPr indent="0" marL="0">
              <a:buNone/>
            </a:pPr>
            <a:r>
              <a:rPr lang="en-US" sz="980" dirty="0">
                <a:solidFill>
                  <a:srgbClr val="667085"/>
                </a:solidFill>
              </a:rPr>
              <a:t>Triển khai: GreenNode AgentBase • OpenAI-compatible model • Demo endpoint • Repo + Pitch deck</a:t>
            </a:r>
            <a:endParaRPr lang="en-US" sz="9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4048" y="201168"/>
            <a:ext cx="2103120" cy="201168"/>
          </a:xfrm>
          <a:prstGeom prst="rect">
            <a:avLst/>
          </a:prstGeom>
          <a:noFill/>
          <a:ln/>
        </p:spPr>
        <p:txBody>
          <a:bodyPr wrap="square" lIns="0" tIns="0" rIns="0" bIns="0" rtlCol="0" anchor="ctr"/>
          <a:lstStyle/>
          <a:p>
            <a:pPr indent="0" marL="0">
              <a:buNone/>
            </a:pPr>
            <a:r>
              <a:rPr lang="en-US" sz="950" b="1" dirty="0">
                <a:solidFill>
                  <a:srgbClr val="E30613"/>
                </a:solidFill>
                <a:latin typeface="Arial" pitchFamily="34" charset="0"/>
                <a:ea typeface="Arial" pitchFamily="34" charset="-122"/>
                <a:cs typeface="Arial" pitchFamily="34" charset="-120"/>
              </a:rPr>
              <a:t>MSB SmartForm AI</a:t>
            </a:r>
            <a:endParaRPr lang="en-US" sz="950" dirty="0"/>
          </a:p>
        </p:txBody>
      </p:sp>
      <p:sp>
        <p:nvSpPr>
          <p:cNvPr id="3" name="Text 1"/>
          <p:cNvSpPr/>
          <p:nvPr/>
        </p:nvSpPr>
        <p:spPr>
          <a:xfrm>
            <a:off x="7635240" y="201168"/>
            <a:ext cx="3977640" cy="201168"/>
          </a:xfrm>
          <a:prstGeom prst="rect">
            <a:avLst/>
          </a:prstGeom>
          <a:noFill/>
          <a:ln/>
        </p:spPr>
        <p:txBody>
          <a:bodyPr wrap="square" lIns="0" tIns="0" rIns="0" bIns="0" rtlCol="0" anchor="ctr"/>
          <a:lstStyle/>
          <a:p>
            <a:pPr algn="r" indent="0" marL="0">
              <a:buNone/>
            </a:pPr>
            <a:r>
              <a:rPr lang="en-US" sz="880" dirty="0">
                <a:solidFill>
                  <a:srgbClr val="667085"/>
                </a:solidFill>
                <a:latin typeface="Arial" pitchFamily="34" charset="0"/>
                <a:ea typeface="Arial" pitchFamily="34" charset="-122"/>
                <a:cs typeface="Arial" pitchFamily="34" charset="-120"/>
              </a:rPr>
              <a:t>AI FOR CUSTOMERS • MSB AI Hackathon 2026</a:t>
            </a:r>
            <a:endParaRPr lang="en-US" sz="880" dirty="0"/>
          </a:p>
        </p:txBody>
      </p:sp>
      <p:sp>
        <p:nvSpPr>
          <p:cNvPr id="4" name="Shape 2"/>
          <p:cNvSpPr/>
          <p:nvPr/>
        </p:nvSpPr>
        <p:spPr>
          <a:xfrm>
            <a:off x="384048" y="502920"/>
            <a:ext cx="11430000" cy="0"/>
          </a:xfrm>
          <a:prstGeom prst="line">
            <a:avLst/>
          </a:prstGeom>
          <a:noFill/>
          <a:ln w="9525">
            <a:solidFill>
              <a:srgbClr val="E5E7EB"/>
            </a:solidFill>
            <a:prstDash val="solid"/>
          </a:ln>
        </p:spPr>
      </p:sp>
      <p:sp>
        <p:nvSpPr>
          <p:cNvPr id="5" name="Text 3"/>
          <p:cNvSpPr/>
          <p:nvPr/>
        </p:nvSpPr>
        <p:spPr>
          <a:xfrm>
            <a:off x="658368" y="685800"/>
            <a:ext cx="5715000" cy="393192"/>
          </a:xfrm>
          <a:prstGeom prst="rect">
            <a:avLst/>
          </a:prstGeom>
          <a:noFill/>
          <a:ln/>
        </p:spPr>
        <p:txBody>
          <a:bodyPr wrap="square" lIns="0" tIns="0" rIns="0" bIns="0" rtlCol="0" anchor="ctr"/>
          <a:lstStyle/>
          <a:p>
            <a:pPr indent="0" marL="0">
              <a:buNone/>
            </a:pPr>
            <a:r>
              <a:rPr lang="en-US" sz="2400" b="1" dirty="0">
                <a:solidFill>
                  <a:srgbClr val="0B1F3A"/>
                </a:solidFill>
                <a:latin typeface="Arial" pitchFamily="34" charset="0"/>
                <a:ea typeface="Arial" pitchFamily="34" charset="-122"/>
                <a:cs typeface="Arial" pitchFamily="34" charset="-120"/>
              </a:rPr>
              <a:t>An toàn dữ liệu &amp; kiểm soát nghiệp vụ</a:t>
            </a:r>
            <a:endParaRPr lang="en-US" sz="2400" dirty="0"/>
          </a:p>
        </p:txBody>
      </p:sp>
      <p:sp>
        <p:nvSpPr>
          <p:cNvPr id="6" name="Text 4"/>
          <p:cNvSpPr/>
          <p:nvPr/>
        </p:nvSpPr>
        <p:spPr>
          <a:xfrm>
            <a:off x="11311128" y="6355080"/>
            <a:ext cx="411480" cy="182880"/>
          </a:xfrm>
          <a:prstGeom prst="rect">
            <a:avLst/>
          </a:prstGeom>
          <a:noFill/>
          <a:ln/>
        </p:spPr>
        <p:txBody>
          <a:bodyPr wrap="square" lIns="0" tIns="0" rIns="0" bIns="0" rtlCol="0" anchor="ctr"/>
          <a:lstStyle/>
          <a:p>
            <a:pPr algn="r" indent="0" marL="0">
              <a:buNone/>
            </a:pPr>
            <a:r>
              <a:rPr lang="en-US" sz="900" dirty="0">
                <a:solidFill>
                  <a:srgbClr val="98A2B3"/>
                </a:solidFill>
              </a:rPr>
              <a:t>07</a:t>
            </a:r>
            <a:endParaRPr lang="en-US" sz="900" dirty="0"/>
          </a:p>
        </p:txBody>
      </p:sp>
      <p:pic>
        <p:nvPicPr>
          <p:cNvPr id="7" name="Image 0" descr="/mnt/data/wide_cinematic_realistic_corporate_office_operat_batch_3.png">    </p:cNvPr>
          <p:cNvPicPr>
            <a:picLocks noChangeAspect="1"/>
          </p:cNvPicPr>
          <p:nvPr/>
        </p:nvPicPr>
        <p:blipFill>
          <a:blip r:embed="rId1"/>
          <a:srcRect l="5000" r="41119" t="0" b="15000"/>
          <a:stretch/>
        </p:blipFill>
        <p:spPr>
          <a:xfrm>
            <a:off x="502920" y="1225296"/>
            <a:ext cx="4892040" cy="4343400"/>
          </a:xfrm>
          <a:prstGeom prst="rect">
            <a:avLst/>
          </a:prstGeom>
        </p:spPr>
      </p:pic>
      <p:sp>
        <p:nvSpPr>
          <p:cNvPr id="8" name="Text 5"/>
          <p:cNvSpPr/>
          <p:nvPr/>
        </p:nvSpPr>
        <p:spPr>
          <a:xfrm>
            <a:off x="5806440" y="1170432"/>
            <a:ext cx="5212080" cy="502920"/>
          </a:xfrm>
          <a:prstGeom prst="rect">
            <a:avLst/>
          </a:prstGeom>
          <a:noFill/>
          <a:ln/>
        </p:spPr>
        <p:txBody>
          <a:bodyPr wrap="square" lIns="127" tIns="127" rIns="127" bIns="127" rtlCol="0" anchor="ctr">
            <a:normAutofit/>
          </a:bodyPr>
          <a:lstStyle/>
          <a:p>
            <a:pPr indent="0" marL="0">
              <a:buNone/>
            </a:pPr>
            <a:r>
              <a:rPr lang="en-US" sz="2500" b="1" dirty="0">
                <a:solidFill>
                  <a:srgbClr val="0B1F3A"/>
                </a:solidFill>
                <a:latin typeface="Arial" pitchFamily="34" charset="0"/>
                <a:ea typeface="Arial" pitchFamily="34" charset="-122"/>
                <a:cs typeface="Arial" pitchFamily="34" charset="-120"/>
              </a:rPr>
              <a:t>Thiết kế để dùng được trong môi trường ngân hàng</a:t>
            </a:r>
            <a:endParaRPr lang="en-US" sz="2500" dirty="0"/>
          </a:p>
        </p:txBody>
      </p:sp>
      <p:sp>
        <p:nvSpPr>
          <p:cNvPr id="9" name="Text 6"/>
          <p:cNvSpPr/>
          <p:nvPr/>
        </p:nvSpPr>
        <p:spPr>
          <a:xfrm>
            <a:off x="5897880" y="2057400"/>
            <a:ext cx="329184" cy="237744"/>
          </a:xfrm>
          <a:prstGeom prst="rect">
            <a:avLst/>
          </a:prstGeom>
          <a:noFill/>
          <a:ln/>
        </p:spPr>
        <p:txBody>
          <a:bodyPr wrap="square" lIns="0" tIns="0" rIns="0" bIns="0" rtlCol="0" anchor="ctr"/>
          <a:lstStyle/>
          <a:p>
            <a:pPr indent="0" marL="0">
              <a:buNone/>
            </a:pPr>
            <a:r>
              <a:rPr lang="en-US" sz="1600" dirty="0">
                <a:solidFill>
                  <a:srgbClr val="000000"/>
                </a:solidFill>
              </a:rPr>
              <a:t>🔒</a:t>
            </a:r>
            <a:endParaRPr lang="en-US" sz="1600" dirty="0"/>
          </a:p>
        </p:txBody>
      </p:sp>
      <p:sp>
        <p:nvSpPr>
          <p:cNvPr id="10" name="Text 7"/>
          <p:cNvSpPr/>
          <p:nvPr/>
        </p:nvSpPr>
        <p:spPr>
          <a:xfrm>
            <a:off x="6355080" y="2048256"/>
            <a:ext cx="1874520" cy="201168"/>
          </a:xfrm>
          <a:prstGeom prst="rect">
            <a:avLst/>
          </a:prstGeom>
          <a:noFill/>
          <a:ln/>
        </p:spPr>
        <p:txBody>
          <a:bodyPr wrap="square" lIns="0" tIns="0" rIns="0" bIns="0" rtlCol="0" anchor="ctr"/>
          <a:lstStyle/>
          <a:p>
            <a:pPr indent="0" marL="0">
              <a:buNone/>
            </a:pPr>
            <a:r>
              <a:rPr lang="en-US" sz="1350" b="1" dirty="0">
                <a:solidFill>
                  <a:srgbClr val="111827"/>
                </a:solidFill>
              </a:rPr>
              <a:t>Không dùng dữ liệu thật</a:t>
            </a:r>
            <a:endParaRPr lang="en-US" sz="1350" dirty="0"/>
          </a:p>
        </p:txBody>
      </p:sp>
      <p:sp>
        <p:nvSpPr>
          <p:cNvPr id="11" name="Text 8"/>
          <p:cNvSpPr/>
          <p:nvPr/>
        </p:nvSpPr>
        <p:spPr>
          <a:xfrm>
            <a:off x="9006840" y="2057400"/>
            <a:ext cx="2057400" cy="228600"/>
          </a:xfrm>
          <a:prstGeom prst="rect">
            <a:avLst/>
          </a:prstGeom>
          <a:noFill/>
          <a:ln/>
        </p:spPr>
        <p:txBody>
          <a:bodyPr wrap="square" lIns="0" tIns="0" rIns="0" bIns="0" rtlCol="0" anchor="ctr">
            <a:normAutofit/>
          </a:bodyPr>
          <a:lstStyle/>
          <a:p>
            <a:pPr indent="0" marL="0">
              <a:buNone/>
            </a:pPr>
            <a:r>
              <a:rPr lang="en-US" sz="1020" dirty="0">
                <a:solidFill>
                  <a:srgbClr val="667085"/>
                </a:solidFill>
              </a:rPr>
              <a:t>Chỉ demo bằng dữ liệu giả lập/ẩn danh; không đưa thông tin KH thật vào agent.</a:t>
            </a:r>
            <a:endParaRPr lang="en-US" sz="1020" dirty="0"/>
          </a:p>
        </p:txBody>
      </p:sp>
      <p:sp>
        <p:nvSpPr>
          <p:cNvPr id="12" name="Text 9"/>
          <p:cNvSpPr/>
          <p:nvPr/>
        </p:nvSpPr>
        <p:spPr>
          <a:xfrm>
            <a:off x="5897880" y="2770632"/>
            <a:ext cx="329184" cy="237744"/>
          </a:xfrm>
          <a:prstGeom prst="rect">
            <a:avLst/>
          </a:prstGeom>
          <a:noFill/>
          <a:ln/>
        </p:spPr>
        <p:txBody>
          <a:bodyPr wrap="square" lIns="0" tIns="0" rIns="0" bIns="0" rtlCol="0" anchor="ctr"/>
          <a:lstStyle/>
          <a:p>
            <a:pPr indent="0" marL="0">
              <a:buNone/>
            </a:pPr>
            <a:r>
              <a:rPr lang="en-US" sz="1600" dirty="0">
                <a:solidFill>
                  <a:srgbClr val="000000"/>
                </a:solidFill>
              </a:rPr>
              <a:t>🚫</a:t>
            </a:r>
            <a:endParaRPr lang="en-US" sz="1600" dirty="0"/>
          </a:p>
        </p:txBody>
      </p:sp>
      <p:sp>
        <p:nvSpPr>
          <p:cNvPr id="13" name="Text 10"/>
          <p:cNvSpPr/>
          <p:nvPr/>
        </p:nvSpPr>
        <p:spPr>
          <a:xfrm>
            <a:off x="6355080" y="2761488"/>
            <a:ext cx="1874520" cy="201168"/>
          </a:xfrm>
          <a:prstGeom prst="rect">
            <a:avLst/>
          </a:prstGeom>
          <a:noFill/>
          <a:ln/>
        </p:spPr>
        <p:txBody>
          <a:bodyPr wrap="square" lIns="0" tIns="0" rIns="0" bIns="0" rtlCol="0" anchor="ctr"/>
          <a:lstStyle/>
          <a:p>
            <a:pPr indent="0" marL="0">
              <a:buNone/>
            </a:pPr>
            <a:r>
              <a:rPr lang="en-US" sz="1350" b="1" dirty="0">
                <a:solidFill>
                  <a:srgbClr val="111827"/>
                </a:solidFill>
              </a:rPr>
              <a:t>Không hỏi bí mật</a:t>
            </a:r>
            <a:endParaRPr lang="en-US" sz="1350" dirty="0"/>
          </a:p>
        </p:txBody>
      </p:sp>
      <p:sp>
        <p:nvSpPr>
          <p:cNvPr id="14" name="Text 11"/>
          <p:cNvSpPr/>
          <p:nvPr/>
        </p:nvSpPr>
        <p:spPr>
          <a:xfrm>
            <a:off x="9006840" y="2770632"/>
            <a:ext cx="2057400" cy="228600"/>
          </a:xfrm>
          <a:prstGeom prst="rect">
            <a:avLst/>
          </a:prstGeom>
          <a:noFill/>
          <a:ln/>
        </p:spPr>
        <p:txBody>
          <a:bodyPr wrap="square" lIns="0" tIns="0" rIns="0" bIns="0" rtlCol="0" anchor="ctr">
            <a:normAutofit/>
          </a:bodyPr>
          <a:lstStyle/>
          <a:p>
            <a:pPr indent="0" marL="0">
              <a:buNone/>
            </a:pPr>
            <a:r>
              <a:rPr lang="en-US" sz="1020" dirty="0">
                <a:solidFill>
                  <a:srgbClr val="667085"/>
                </a:solidFill>
              </a:rPr>
              <a:t>Không yêu cầu OTP, PIN, mật khẩu, private key, API key, secret.</a:t>
            </a:r>
            <a:endParaRPr lang="en-US" sz="1020" dirty="0"/>
          </a:p>
        </p:txBody>
      </p:sp>
      <p:sp>
        <p:nvSpPr>
          <p:cNvPr id="15" name="Text 12"/>
          <p:cNvSpPr/>
          <p:nvPr/>
        </p:nvSpPr>
        <p:spPr>
          <a:xfrm>
            <a:off x="5897880" y="3483864"/>
            <a:ext cx="329184" cy="237744"/>
          </a:xfrm>
          <a:prstGeom prst="rect">
            <a:avLst/>
          </a:prstGeom>
          <a:noFill/>
          <a:ln/>
        </p:spPr>
        <p:txBody>
          <a:bodyPr wrap="square" lIns="0" tIns="0" rIns="0" bIns="0" rtlCol="0" anchor="ctr"/>
          <a:lstStyle/>
          <a:p>
            <a:pPr indent="0" marL="0">
              <a:buNone/>
            </a:pPr>
            <a:r>
              <a:rPr lang="en-US" sz="1600" dirty="0">
                <a:solidFill>
                  <a:srgbClr val="000000"/>
                </a:solidFill>
              </a:rPr>
              <a:t>⚖️</a:t>
            </a:r>
            <a:endParaRPr lang="en-US" sz="1600" dirty="0"/>
          </a:p>
        </p:txBody>
      </p:sp>
      <p:sp>
        <p:nvSpPr>
          <p:cNvPr id="16" name="Text 13"/>
          <p:cNvSpPr/>
          <p:nvPr/>
        </p:nvSpPr>
        <p:spPr>
          <a:xfrm>
            <a:off x="6355080" y="3474720"/>
            <a:ext cx="1874520" cy="201168"/>
          </a:xfrm>
          <a:prstGeom prst="rect">
            <a:avLst/>
          </a:prstGeom>
          <a:noFill/>
          <a:ln/>
        </p:spPr>
        <p:txBody>
          <a:bodyPr wrap="square" lIns="0" tIns="0" rIns="0" bIns="0" rtlCol="0" anchor="ctr"/>
          <a:lstStyle/>
          <a:p>
            <a:pPr indent="0" marL="0">
              <a:buNone/>
            </a:pPr>
            <a:r>
              <a:rPr lang="en-US" sz="1350" b="1" dirty="0">
                <a:solidFill>
                  <a:srgbClr val="111827"/>
                </a:solidFill>
              </a:rPr>
              <a:t>Không tự phê duyệt hồ sơ</a:t>
            </a:r>
            <a:endParaRPr lang="en-US" sz="1350" dirty="0"/>
          </a:p>
        </p:txBody>
      </p:sp>
      <p:sp>
        <p:nvSpPr>
          <p:cNvPr id="17" name="Text 14"/>
          <p:cNvSpPr/>
          <p:nvPr/>
        </p:nvSpPr>
        <p:spPr>
          <a:xfrm>
            <a:off x="9006840" y="3483864"/>
            <a:ext cx="2057400" cy="228600"/>
          </a:xfrm>
          <a:prstGeom prst="rect">
            <a:avLst/>
          </a:prstGeom>
          <a:noFill/>
          <a:ln/>
        </p:spPr>
        <p:txBody>
          <a:bodyPr wrap="square" lIns="0" tIns="0" rIns="0" bIns="0" rtlCol="0" anchor="ctr">
            <a:normAutofit/>
          </a:bodyPr>
          <a:lstStyle/>
          <a:p>
            <a:pPr indent="0" marL="0">
              <a:buNone/>
            </a:pPr>
            <a:r>
              <a:rPr lang="en-US" sz="1020" dirty="0">
                <a:solidFill>
                  <a:srgbClr val="667085"/>
                </a:solidFill>
              </a:rPr>
              <a:t>Agent chỉ chuẩn bị hồ sơ; quyết định tiếp nhận/chấp thuận thuộc MSB.</a:t>
            </a:r>
            <a:endParaRPr lang="en-US" sz="1020" dirty="0"/>
          </a:p>
        </p:txBody>
      </p:sp>
      <p:sp>
        <p:nvSpPr>
          <p:cNvPr id="18" name="Text 15"/>
          <p:cNvSpPr/>
          <p:nvPr/>
        </p:nvSpPr>
        <p:spPr>
          <a:xfrm>
            <a:off x="5897880" y="4197096"/>
            <a:ext cx="329184" cy="237744"/>
          </a:xfrm>
          <a:prstGeom prst="rect">
            <a:avLst/>
          </a:prstGeom>
          <a:noFill/>
          <a:ln/>
        </p:spPr>
        <p:txBody>
          <a:bodyPr wrap="square" lIns="0" tIns="0" rIns="0" bIns="0" rtlCol="0" anchor="ctr"/>
          <a:lstStyle/>
          <a:p>
            <a:pPr indent="0" marL="0">
              <a:buNone/>
            </a:pPr>
            <a:r>
              <a:rPr lang="en-US" sz="1600" dirty="0">
                <a:solidFill>
                  <a:srgbClr val="000000"/>
                </a:solidFill>
              </a:rPr>
              <a:t>✅</a:t>
            </a:r>
            <a:endParaRPr lang="en-US" sz="1600" dirty="0"/>
          </a:p>
        </p:txBody>
      </p:sp>
      <p:sp>
        <p:nvSpPr>
          <p:cNvPr id="19" name="Text 16"/>
          <p:cNvSpPr/>
          <p:nvPr/>
        </p:nvSpPr>
        <p:spPr>
          <a:xfrm>
            <a:off x="6355080" y="4187952"/>
            <a:ext cx="1874520" cy="201168"/>
          </a:xfrm>
          <a:prstGeom prst="rect">
            <a:avLst/>
          </a:prstGeom>
          <a:noFill/>
          <a:ln/>
        </p:spPr>
        <p:txBody>
          <a:bodyPr wrap="square" lIns="0" tIns="0" rIns="0" bIns="0" rtlCol="0" anchor="ctr"/>
          <a:lstStyle/>
          <a:p>
            <a:pPr indent="0" marL="0">
              <a:buNone/>
            </a:pPr>
            <a:r>
              <a:rPr lang="en-US" sz="1350" b="1" dirty="0">
                <a:solidFill>
                  <a:srgbClr val="111827"/>
                </a:solidFill>
              </a:rPr>
              <a:t>Luôn có trạng thái kiểm soát</a:t>
            </a:r>
            <a:endParaRPr lang="en-US" sz="1350" dirty="0"/>
          </a:p>
        </p:txBody>
      </p:sp>
      <p:sp>
        <p:nvSpPr>
          <p:cNvPr id="20" name="Text 17"/>
          <p:cNvSpPr/>
          <p:nvPr/>
        </p:nvSpPr>
        <p:spPr>
          <a:xfrm>
            <a:off x="9006840" y="4197096"/>
            <a:ext cx="2057400" cy="228600"/>
          </a:xfrm>
          <a:prstGeom prst="rect">
            <a:avLst/>
          </a:prstGeom>
          <a:noFill/>
          <a:ln/>
        </p:spPr>
        <p:txBody>
          <a:bodyPr wrap="square" lIns="0" tIns="0" rIns="0" bIns="0" rtlCol="0" anchor="ctr">
            <a:normAutofit/>
          </a:bodyPr>
          <a:lstStyle/>
          <a:p>
            <a:pPr indent="0" marL="0">
              <a:buNone/>
            </a:pPr>
            <a:r>
              <a:rPr lang="en-US" sz="1020" dirty="0">
                <a:solidFill>
                  <a:srgbClr val="667085"/>
                </a:solidFill>
              </a:rPr>
              <a:t>READY • MISSING INFORMATION • NEED MSB REVIEW.</a:t>
            </a:r>
            <a:endParaRPr lang="en-US" sz="1020" dirty="0"/>
          </a:p>
        </p:txBody>
      </p:sp>
      <p:sp>
        <p:nvSpPr>
          <p:cNvPr id="21" name="Shape 18"/>
          <p:cNvSpPr/>
          <p:nvPr/>
        </p:nvSpPr>
        <p:spPr>
          <a:xfrm>
            <a:off x="5897880" y="5285232"/>
            <a:ext cx="5074920" cy="621792"/>
          </a:xfrm>
          <a:prstGeom prst="roundRect">
            <a:avLst>
              <a:gd name="adj" fmla="val 8824"/>
            </a:avLst>
          </a:prstGeom>
          <a:solidFill>
            <a:srgbClr val="EAF2FF"/>
          </a:solidFill>
          <a:ln w="12700">
            <a:solidFill>
              <a:srgbClr val="B9D6FF"/>
            </a:solidFill>
            <a:prstDash val="solid"/>
          </a:ln>
        </p:spPr>
      </p:sp>
      <p:sp>
        <p:nvSpPr>
          <p:cNvPr id="22" name="Text 19"/>
          <p:cNvSpPr/>
          <p:nvPr/>
        </p:nvSpPr>
        <p:spPr>
          <a:xfrm>
            <a:off x="6035040" y="5413248"/>
            <a:ext cx="4800600" cy="365760"/>
          </a:xfrm>
          <a:prstGeom prst="rect">
            <a:avLst/>
          </a:prstGeom>
          <a:noFill/>
          <a:ln/>
        </p:spPr>
        <p:txBody>
          <a:bodyPr wrap="square" lIns="0" tIns="0" rIns="0" bIns="0" rtlCol="0" anchor="ctr">
            <a:normAutofit/>
          </a:bodyPr>
          <a:lstStyle/>
          <a:p>
            <a:pPr indent="0" marL="0">
              <a:buNone/>
            </a:pPr>
            <a:r>
              <a:rPr lang="en-US" sz="1210" b="1" dirty="0">
                <a:solidFill>
                  <a:srgbClr val="1757A6"/>
                </a:solidFill>
                <a:latin typeface="Arial" pitchFamily="34" charset="0"/>
                <a:ea typeface="Arial" pitchFamily="34" charset="-122"/>
                <a:cs typeface="Arial" pitchFamily="34" charset="-120"/>
              </a:rPr>
              <a:t>Thông điệp BGK: sản phẩm giải quyết pain point thật nhưng vẫn giữ ranh giới an toàn và kiểm soát phù hợp ngành ngân hàng.</a:t>
            </a:r>
            <a:endParaRPr lang="en-US" sz="121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84048" y="201168"/>
            <a:ext cx="2103120" cy="201168"/>
          </a:xfrm>
          <a:prstGeom prst="rect">
            <a:avLst/>
          </a:prstGeom>
          <a:noFill/>
          <a:ln/>
        </p:spPr>
        <p:txBody>
          <a:bodyPr wrap="square" lIns="0" tIns="0" rIns="0" bIns="0" rtlCol="0" anchor="ctr"/>
          <a:lstStyle/>
          <a:p>
            <a:pPr indent="0" marL="0">
              <a:buNone/>
            </a:pPr>
            <a:r>
              <a:rPr lang="en-US" sz="950" b="1" dirty="0">
                <a:solidFill>
                  <a:srgbClr val="E30613"/>
                </a:solidFill>
                <a:latin typeface="Arial" pitchFamily="34" charset="0"/>
                <a:ea typeface="Arial" pitchFamily="34" charset="-122"/>
                <a:cs typeface="Arial" pitchFamily="34" charset="-120"/>
              </a:rPr>
              <a:t>MSB SmartForm AI</a:t>
            </a:r>
            <a:endParaRPr lang="en-US" sz="950" dirty="0"/>
          </a:p>
        </p:txBody>
      </p:sp>
      <p:sp>
        <p:nvSpPr>
          <p:cNvPr id="3" name="Text 1"/>
          <p:cNvSpPr/>
          <p:nvPr/>
        </p:nvSpPr>
        <p:spPr>
          <a:xfrm>
            <a:off x="7635240" y="201168"/>
            <a:ext cx="3977640" cy="201168"/>
          </a:xfrm>
          <a:prstGeom prst="rect">
            <a:avLst/>
          </a:prstGeom>
          <a:noFill/>
          <a:ln/>
        </p:spPr>
        <p:txBody>
          <a:bodyPr wrap="square" lIns="0" tIns="0" rIns="0" bIns="0" rtlCol="0" anchor="ctr"/>
          <a:lstStyle/>
          <a:p>
            <a:pPr algn="r" indent="0" marL="0">
              <a:buNone/>
            </a:pPr>
            <a:r>
              <a:rPr lang="en-US" sz="880" dirty="0">
                <a:solidFill>
                  <a:srgbClr val="667085"/>
                </a:solidFill>
                <a:latin typeface="Arial" pitchFamily="34" charset="0"/>
                <a:ea typeface="Arial" pitchFamily="34" charset="-122"/>
                <a:cs typeface="Arial" pitchFamily="34" charset="-120"/>
              </a:rPr>
              <a:t>AI FOR CUSTOMERS • MSB AI Hackathon 2026</a:t>
            </a:r>
            <a:endParaRPr lang="en-US" sz="880" dirty="0"/>
          </a:p>
        </p:txBody>
      </p:sp>
      <p:sp>
        <p:nvSpPr>
          <p:cNvPr id="4" name="Shape 2"/>
          <p:cNvSpPr/>
          <p:nvPr/>
        </p:nvSpPr>
        <p:spPr>
          <a:xfrm>
            <a:off x="384048" y="502920"/>
            <a:ext cx="11430000" cy="0"/>
          </a:xfrm>
          <a:prstGeom prst="line">
            <a:avLst/>
          </a:prstGeom>
          <a:noFill/>
          <a:ln w="9525">
            <a:solidFill>
              <a:srgbClr val="E5E7EB"/>
            </a:solidFill>
            <a:prstDash val="solid"/>
          </a:ln>
        </p:spPr>
      </p:sp>
      <p:sp>
        <p:nvSpPr>
          <p:cNvPr id="5" name="Text 3"/>
          <p:cNvSpPr/>
          <p:nvPr/>
        </p:nvSpPr>
        <p:spPr>
          <a:xfrm>
            <a:off x="658368" y="685800"/>
            <a:ext cx="5715000" cy="393192"/>
          </a:xfrm>
          <a:prstGeom prst="rect">
            <a:avLst/>
          </a:prstGeom>
          <a:noFill/>
          <a:ln/>
        </p:spPr>
        <p:txBody>
          <a:bodyPr wrap="square" lIns="0" tIns="0" rIns="0" bIns="0" rtlCol="0" anchor="ctr"/>
          <a:lstStyle/>
          <a:p>
            <a:pPr indent="0" marL="0">
              <a:buNone/>
            </a:pPr>
            <a:r>
              <a:rPr lang="en-US" sz="2400" b="1" dirty="0">
                <a:solidFill>
                  <a:srgbClr val="0B1F3A"/>
                </a:solidFill>
                <a:latin typeface="Arial" pitchFamily="34" charset="0"/>
                <a:ea typeface="Arial" pitchFamily="34" charset="-122"/>
                <a:cs typeface="Arial" pitchFamily="34" charset="-120"/>
              </a:rPr>
              <a:t>Giá trị kỳ vọng: nhanh hơn, đúng hơn, dễ mở rộng hơn</a:t>
            </a:r>
            <a:endParaRPr lang="en-US" sz="2400" dirty="0"/>
          </a:p>
        </p:txBody>
      </p:sp>
      <p:sp>
        <p:nvSpPr>
          <p:cNvPr id="6" name="Text 4"/>
          <p:cNvSpPr/>
          <p:nvPr/>
        </p:nvSpPr>
        <p:spPr>
          <a:xfrm>
            <a:off x="11311128" y="6355080"/>
            <a:ext cx="411480" cy="182880"/>
          </a:xfrm>
          <a:prstGeom prst="rect">
            <a:avLst/>
          </a:prstGeom>
          <a:noFill/>
          <a:ln/>
        </p:spPr>
        <p:txBody>
          <a:bodyPr wrap="square" lIns="0" tIns="0" rIns="0" bIns="0" rtlCol="0" anchor="ctr"/>
          <a:lstStyle/>
          <a:p>
            <a:pPr algn="r" indent="0" marL="0">
              <a:buNone/>
            </a:pPr>
            <a:r>
              <a:rPr lang="en-US" sz="900" dirty="0">
                <a:solidFill>
                  <a:srgbClr val="98A2B3"/>
                </a:solidFill>
              </a:rPr>
              <a:t>08</a:t>
            </a:r>
            <a:endParaRPr lang="en-US" sz="900" dirty="0"/>
          </a:p>
        </p:txBody>
      </p:sp>
      <p:sp>
        <p:nvSpPr>
          <p:cNvPr id="7" name="Text 5"/>
          <p:cNvSpPr/>
          <p:nvPr/>
        </p:nvSpPr>
        <p:spPr>
          <a:xfrm>
            <a:off x="822960" y="1325880"/>
            <a:ext cx="2468880" cy="457200"/>
          </a:xfrm>
          <a:prstGeom prst="rect">
            <a:avLst/>
          </a:prstGeom>
          <a:noFill/>
          <a:ln/>
        </p:spPr>
        <p:txBody>
          <a:bodyPr wrap="square" lIns="0" tIns="0" rIns="0" bIns="0" rtlCol="0" anchor="ctr"/>
          <a:lstStyle/>
          <a:p>
            <a:pPr algn="ctr" indent="0" marL="0">
              <a:buNone/>
            </a:pPr>
            <a:r>
              <a:rPr lang="en-US" sz="3000" b="1" dirty="0">
                <a:solidFill>
                  <a:srgbClr val="E30613"/>
                </a:solidFill>
              </a:rPr>
              <a:t>↓ 50–70%</a:t>
            </a:r>
            <a:endParaRPr lang="en-US" sz="3000" dirty="0"/>
          </a:p>
        </p:txBody>
      </p:sp>
      <p:sp>
        <p:nvSpPr>
          <p:cNvPr id="8" name="Text 6"/>
          <p:cNvSpPr/>
          <p:nvPr/>
        </p:nvSpPr>
        <p:spPr>
          <a:xfrm>
            <a:off x="822960" y="1828800"/>
            <a:ext cx="2468880" cy="420624"/>
          </a:xfrm>
          <a:prstGeom prst="rect">
            <a:avLst/>
          </a:prstGeom>
          <a:noFill/>
          <a:ln/>
        </p:spPr>
        <p:txBody>
          <a:bodyPr wrap="square" lIns="254" tIns="254" rIns="254" bIns="254" rtlCol="0" anchor="ctr">
            <a:normAutofit/>
          </a:bodyPr>
          <a:lstStyle/>
          <a:p>
            <a:pPr algn="ctr" indent="0" marL="0">
              <a:buNone/>
            </a:pPr>
            <a:r>
              <a:rPr lang="en-US" sz="1100" dirty="0">
                <a:solidFill>
                  <a:srgbClr val="667085"/>
                </a:solidFill>
              </a:rPr>
              <a:t>Thời gian hướng dẫn và chuẩn bị hồ sơ ở kịch bản lặp lại</a:t>
            </a:r>
            <a:endParaRPr lang="en-US" sz="1100" dirty="0"/>
          </a:p>
        </p:txBody>
      </p:sp>
      <p:sp>
        <p:nvSpPr>
          <p:cNvPr id="9" name="Text 7"/>
          <p:cNvSpPr/>
          <p:nvPr/>
        </p:nvSpPr>
        <p:spPr>
          <a:xfrm>
            <a:off x="3657600" y="1325880"/>
            <a:ext cx="2560320" cy="457200"/>
          </a:xfrm>
          <a:prstGeom prst="rect">
            <a:avLst/>
          </a:prstGeom>
          <a:noFill/>
          <a:ln/>
        </p:spPr>
        <p:txBody>
          <a:bodyPr wrap="square" lIns="0" tIns="0" rIns="0" bIns="0" rtlCol="0" anchor="ctr"/>
          <a:lstStyle/>
          <a:p>
            <a:pPr algn="ctr" indent="0" marL="0">
              <a:buNone/>
            </a:pPr>
            <a:r>
              <a:rPr lang="en-US" sz="3000" b="1" dirty="0">
                <a:solidFill>
                  <a:srgbClr val="00A676"/>
                </a:solidFill>
              </a:rPr>
              <a:t>↓ sai sót</a:t>
            </a:r>
            <a:endParaRPr lang="en-US" sz="3000" dirty="0"/>
          </a:p>
        </p:txBody>
      </p:sp>
      <p:sp>
        <p:nvSpPr>
          <p:cNvPr id="10" name="Text 8"/>
          <p:cNvSpPr/>
          <p:nvPr/>
        </p:nvSpPr>
        <p:spPr>
          <a:xfrm>
            <a:off x="3657600" y="1828800"/>
            <a:ext cx="2560320" cy="420624"/>
          </a:xfrm>
          <a:prstGeom prst="rect">
            <a:avLst/>
          </a:prstGeom>
          <a:noFill/>
          <a:ln/>
        </p:spPr>
        <p:txBody>
          <a:bodyPr wrap="square" lIns="254" tIns="254" rIns="254" bIns="254" rtlCol="0" anchor="ctr">
            <a:normAutofit/>
          </a:bodyPr>
          <a:lstStyle/>
          <a:p>
            <a:pPr algn="ctr" indent="0" marL="0">
              <a:buNone/>
            </a:pPr>
            <a:r>
              <a:rPr lang="en-US" sz="1100" dirty="0">
                <a:solidFill>
                  <a:srgbClr val="667085"/>
                </a:solidFill>
              </a:rPr>
              <a:t>Giảm thiếu trường, sai người ký, sai quyền eBank</a:t>
            </a:r>
            <a:endParaRPr lang="en-US" sz="1100" dirty="0"/>
          </a:p>
        </p:txBody>
      </p:sp>
      <p:sp>
        <p:nvSpPr>
          <p:cNvPr id="11" name="Text 9"/>
          <p:cNvSpPr/>
          <p:nvPr/>
        </p:nvSpPr>
        <p:spPr>
          <a:xfrm>
            <a:off x="6537960" y="1325880"/>
            <a:ext cx="2468880" cy="457200"/>
          </a:xfrm>
          <a:prstGeom prst="rect">
            <a:avLst/>
          </a:prstGeom>
          <a:noFill/>
          <a:ln/>
        </p:spPr>
        <p:txBody>
          <a:bodyPr wrap="square" lIns="0" tIns="0" rIns="0" bIns="0" rtlCol="0" anchor="ctr"/>
          <a:lstStyle/>
          <a:p>
            <a:pPr algn="ctr" indent="0" marL="0">
              <a:buNone/>
            </a:pPr>
            <a:r>
              <a:rPr lang="en-US" sz="3000" b="1" dirty="0">
                <a:solidFill>
                  <a:srgbClr val="1757A6"/>
                </a:solidFill>
              </a:rPr>
              <a:t>24/7</a:t>
            </a:r>
            <a:endParaRPr lang="en-US" sz="3000" dirty="0"/>
          </a:p>
        </p:txBody>
      </p:sp>
      <p:sp>
        <p:nvSpPr>
          <p:cNvPr id="12" name="Text 10"/>
          <p:cNvSpPr/>
          <p:nvPr/>
        </p:nvSpPr>
        <p:spPr>
          <a:xfrm>
            <a:off x="6537960" y="1828800"/>
            <a:ext cx="2468880" cy="420624"/>
          </a:xfrm>
          <a:prstGeom prst="rect">
            <a:avLst/>
          </a:prstGeom>
          <a:noFill/>
          <a:ln/>
        </p:spPr>
        <p:txBody>
          <a:bodyPr wrap="square" lIns="254" tIns="254" rIns="254" bIns="254" rtlCol="0" anchor="ctr">
            <a:normAutofit/>
          </a:bodyPr>
          <a:lstStyle/>
          <a:p>
            <a:pPr algn="ctr" indent="0" marL="0">
              <a:buNone/>
            </a:pPr>
            <a:r>
              <a:rPr lang="en-US" sz="1100" dirty="0">
                <a:solidFill>
                  <a:srgbClr val="667085"/>
                </a:solidFill>
              </a:rPr>
              <a:t>Khách hàng/RM có trợ lý tra mẫu và checklist mọi lúc</a:t>
            </a:r>
            <a:endParaRPr lang="en-US" sz="1100" dirty="0"/>
          </a:p>
        </p:txBody>
      </p:sp>
      <p:sp>
        <p:nvSpPr>
          <p:cNvPr id="13" name="Text 11"/>
          <p:cNvSpPr/>
          <p:nvPr/>
        </p:nvSpPr>
        <p:spPr>
          <a:xfrm>
            <a:off x="9281160" y="1325880"/>
            <a:ext cx="2286000" cy="457200"/>
          </a:xfrm>
          <a:prstGeom prst="rect">
            <a:avLst/>
          </a:prstGeom>
          <a:noFill/>
          <a:ln/>
        </p:spPr>
        <p:txBody>
          <a:bodyPr wrap="square" lIns="0" tIns="0" rIns="0" bIns="0" rtlCol="0" anchor="ctr"/>
          <a:lstStyle/>
          <a:p>
            <a:pPr algn="ctr" indent="0" marL="0">
              <a:buNone/>
            </a:pPr>
            <a:r>
              <a:rPr lang="en-US" sz="3000" b="1" dirty="0">
                <a:solidFill>
                  <a:srgbClr val="0B1F3A"/>
                </a:solidFill>
              </a:rPr>
              <a:t>mở rộng</a:t>
            </a:r>
            <a:endParaRPr lang="en-US" sz="3000" dirty="0"/>
          </a:p>
        </p:txBody>
      </p:sp>
      <p:sp>
        <p:nvSpPr>
          <p:cNvPr id="14" name="Text 12"/>
          <p:cNvSpPr/>
          <p:nvPr/>
        </p:nvSpPr>
        <p:spPr>
          <a:xfrm>
            <a:off x="9281160" y="1828800"/>
            <a:ext cx="2286000" cy="420624"/>
          </a:xfrm>
          <a:prstGeom prst="rect">
            <a:avLst/>
          </a:prstGeom>
          <a:noFill/>
          <a:ln/>
        </p:spPr>
        <p:txBody>
          <a:bodyPr wrap="square" lIns="254" tIns="254" rIns="254" bIns="254" rtlCol="0" anchor="ctr">
            <a:normAutofit/>
          </a:bodyPr>
          <a:lstStyle/>
          <a:p>
            <a:pPr algn="ctr" indent="0" marL="0">
              <a:buNone/>
            </a:pPr>
            <a:r>
              <a:rPr lang="en-US" sz="1100" dirty="0">
                <a:solidFill>
                  <a:srgbClr val="667085"/>
                </a:solidFill>
              </a:rPr>
              <a:t>Có thể thêm mẫu mới bằng Form Registry</a:t>
            </a:r>
            <a:endParaRPr lang="en-US" sz="1100" dirty="0"/>
          </a:p>
        </p:txBody>
      </p:sp>
      <p:sp>
        <p:nvSpPr>
          <p:cNvPr id="15" name="Shape 13"/>
          <p:cNvSpPr/>
          <p:nvPr/>
        </p:nvSpPr>
        <p:spPr>
          <a:xfrm>
            <a:off x="914400" y="3063240"/>
            <a:ext cx="10287000" cy="1508760"/>
          </a:xfrm>
          <a:prstGeom prst="roundRect">
            <a:avLst>
              <a:gd name="adj" fmla="val 5455"/>
            </a:avLst>
          </a:prstGeom>
          <a:solidFill>
            <a:srgbClr val="FFFFFF"/>
          </a:solidFill>
          <a:ln w="12700">
            <a:solidFill>
              <a:srgbClr val="EAECF0"/>
            </a:solidFill>
            <a:prstDash val="solid"/>
          </a:ln>
        </p:spPr>
      </p:sp>
      <p:sp>
        <p:nvSpPr>
          <p:cNvPr id="16" name="Text 14"/>
          <p:cNvSpPr/>
          <p:nvPr/>
        </p:nvSpPr>
        <p:spPr>
          <a:xfrm>
            <a:off x="1234440" y="3310128"/>
            <a:ext cx="2926080" cy="219456"/>
          </a:xfrm>
          <a:prstGeom prst="rect">
            <a:avLst/>
          </a:prstGeom>
          <a:noFill/>
          <a:ln/>
        </p:spPr>
        <p:txBody>
          <a:bodyPr wrap="square" lIns="0" tIns="0" rIns="0" bIns="0" rtlCol="0" anchor="ctr"/>
          <a:lstStyle/>
          <a:p>
            <a:pPr indent="0" marL="0">
              <a:buNone/>
            </a:pPr>
            <a:r>
              <a:rPr lang="en-US" sz="1700" b="1" dirty="0">
                <a:solidFill>
                  <a:srgbClr val="0B1F3A"/>
                </a:solidFill>
              </a:rPr>
              <a:t>Căn chỉnh tiêu chí Hackathon</a:t>
            </a:r>
            <a:endParaRPr lang="en-US" sz="1700" dirty="0"/>
          </a:p>
        </p:txBody>
      </p:sp>
      <p:sp>
        <p:nvSpPr>
          <p:cNvPr id="17" name="Text 15"/>
          <p:cNvSpPr/>
          <p:nvPr/>
        </p:nvSpPr>
        <p:spPr>
          <a:xfrm>
            <a:off x="1325880" y="3794760"/>
            <a:ext cx="1371600" cy="182880"/>
          </a:xfrm>
          <a:prstGeom prst="rect">
            <a:avLst/>
          </a:prstGeom>
          <a:noFill/>
          <a:ln/>
        </p:spPr>
        <p:txBody>
          <a:bodyPr wrap="square" lIns="0" tIns="0" rIns="0" bIns="0" rtlCol="0" anchor="ctr"/>
          <a:lstStyle/>
          <a:p>
            <a:pPr indent="0" marL="0">
              <a:buNone/>
            </a:pPr>
            <a:r>
              <a:rPr lang="en-US" sz="1300" b="1" dirty="0">
                <a:solidFill>
                  <a:srgbClr val="E30613"/>
                </a:solidFill>
              </a:rPr>
              <a:t>Reach</a:t>
            </a:r>
            <a:endParaRPr lang="en-US" sz="1300" dirty="0"/>
          </a:p>
        </p:txBody>
      </p:sp>
      <p:sp>
        <p:nvSpPr>
          <p:cNvPr id="18" name="Text 16"/>
          <p:cNvSpPr/>
          <p:nvPr/>
        </p:nvSpPr>
        <p:spPr>
          <a:xfrm>
            <a:off x="1325880" y="4069080"/>
            <a:ext cx="2788920" cy="219456"/>
          </a:xfrm>
          <a:prstGeom prst="rect">
            <a:avLst/>
          </a:prstGeom>
          <a:noFill/>
          <a:ln/>
        </p:spPr>
        <p:txBody>
          <a:bodyPr wrap="square" lIns="0" tIns="0" rIns="0" bIns="0" rtlCol="0" anchor="ctr">
            <a:normAutofit/>
          </a:bodyPr>
          <a:lstStyle/>
          <a:p>
            <a:pPr indent="0" marL="0">
              <a:buNone/>
            </a:pPr>
            <a:r>
              <a:rPr lang="en-US" sz="1040" dirty="0">
                <a:solidFill>
                  <a:srgbClr val="667085"/>
                </a:solidFill>
              </a:rPr>
              <a:t>RM, CSKH, khách hàng DN/cá nhân dùng eBank</a:t>
            </a:r>
            <a:endParaRPr lang="en-US" sz="1040" dirty="0"/>
          </a:p>
        </p:txBody>
      </p:sp>
      <p:sp>
        <p:nvSpPr>
          <p:cNvPr id="19" name="Text 17"/>
          <p:cNvSpPr/>
          <p:nvPr/>
        </p:nvSpPr>
        <p:spPr>
          <a:xfrm>
            <a:off x="4480560" y="3794760"/>
            <a:ext cx="1371600" cy="182880"/>
          </a:xfrm>
          <a:prstGeom prst="rect">
            <a:avLst/>
          </a:prstGeom>
          <a:noFill/>
          <a:ln/>
        </p:spPr>
        <p:txBody>
          <a:bodyPr wrap="square" lIns="0" tIns="0" rIns="0" bIns="0" rtlCol="0" anchor="ctr"/>
          <a:lstStyle/>
          <a:p>
            <a:pPr indent="0" marL="0">
              <a:buNone/>
            </a:pPr>
            <a:r>
              <a:rPr lang="en-US" sz="1300" b="1" dirty="0">
                <a:solidFill>
                  <a:srgbClr val="00A676"/>
                </a:solidFill>
              </a:rPr>
              <a:t>Impact</a:t>
            </a:r>
            <a:endParaRPr lang="en-US" sz="1300" dirty="0"/>
          </a:p>
        </p:txBody>
      </p:sp>
      <p:sp>
        <p:nvSpPr>
          <p:cNvPr id="20" name="Text 18"/>
          <p:cNvSpPr/>
          <p:nvPr/>
        </p:nvSpPr>
        <p:spPr>
          <a:xfrm>
            <a:off x="4480560" y="4069080"/>
            <a:ext cx="2788920" cy="219456"/>
          </a:xfrm>
          <a:prstGeom prst="rect">
            <a:avLst/>
          </a:prstGeom>
          <a:noFill/>
          <a:ln/>
        </p:spPr>
        <p:txBody>
          <a:bodyPr wrap="square" lIns="0" tIns="0" rIns="0" bIns="0" rtlCol="0" anchor="ctr">
            <a:normAutofit/>
          </a:bodyPr>
          <a:lstStyle/>
          <a:p>
            <a:pPr indent="0" marL="0">
              <a:buNone/>
            </a:pPr>
            <a:r>
              <a:rPr lang="en-US" sz="1040" dirty="0">
                <a:solidFill>
                  <a:srgbClr val="667085"/>
                </a:solidFill>
              </a:rPr>
              <a:t>Rút ngắn quy trình, tăng trải nghiệm, giảm hồ sơ bổ sung</a:t>
            </a:r>
            <a:endParaRPr lang="en-US" sz="1040" dirty="0"/>
          </a:p>
        </p:txBody>
      </p:sp>
      <p:sp>
        <p:nvSpPr>
          <p:cNvPr id="21" name="Text 19"/>
          <p:cNvSpPr/>
          <p:nvPr/>
        </p:nvSpPr>
        <p:spPr>
          <a:xfrm>
            <a:off x="7635240" y="3794760"/>
            <a:ext cx="1371600" cy="182880"/>
          </a:xfrm>
          <a:prstGeom prst="rect">
            <a:avLst/>
          </a:prstGeom>
          <a:noFill/>
          <a:ln/>
        </p:spPr>
        <p:txBody>
          <a:bodyPr wrap="square" lIns="0" tIns="0" rIns="0" bIns="0" rtlCol="0" anchor="ctr"/>
          <a:lstStyle/>
          <a:p>
            <a:pPr indent="0" marL="0">
              <a:buNone/>
            </a:pPr>
            <a:r>
              <a:rPr lang="en-US" sz="1300" b="1" dirty="0">
                <a:solidFill>
                  <a:srgbClr val="1757A6"/>
                </a:solidFill>
              </a:rPr>
              <a:t>Confidence</a:t>
            </a:r>
            <a:endParaRPr lang="en-US" sz="1300" dirty="0"/>
          </a:p>
        </p:txBody>
      </p:sp>
      <p:sp>
        <p:nvSpPr>
          <p:cNvPr id="22" name="Text 20"/>
          <p:cNvSpPr/>
          <p:nvPr/>
        </p:nvSpPr>
        <p:spPr>
          <a:xfrm>
            <a:off x="7635240" y="4069080"/>
            <a:ext cx="2788920" cy="219456"/>
          </a:xfrm>
          <a:prstGeom prst="rect">
            <a:avLst/>
          </a:prstGeom>
          <a:noFill/>
          <a:ln/>
        </p:spPr>
        <p:txBody>
          <a:bodyPr wrap="square" lIns="0" tIns="0" rIns="0" bIns="0" rtlCol="0" anchor="ctr">
            <a:normAutofit/>
          </a:bodyPr>
          <a:lstStyle/>
          <a:p>
            <a:pPr indent="0" marL="0">
              <a:buNone/>
            </a:pPr>
            <a:r>
              <a:rPr lang="en-US" sz="1040" dirty="0">
                <a:solidFill>
                  <a:srgbClr val="667085"/>
                </a:solidFill>
              </a:rPr>
              <a:t>Demo được, có knowledge base, có validation và guardrails</a:t>
            </a:r>
            <a:endParaRPr lang="en-US" sz="1040" dirty="0"/>
          </a:p>
        </p:txBody>
      </p:sp>
      <p:sp>
        <p:nvSpPr>
          <p:cNvPr id="23" name="Text 21"/>
          <p:cNvSpPr/>
          <p:nvPr/>
        </p:nvSpPr>
        <p:spPr>
          <a:xfrm>
            <a:off x="1097280" y="5321808"/>
            <a:ext cx="9966960" cy="347472"/>
          </a:xfrm>
          <a:prstGeom prst="rect">
            <a:avLst/>
          </a:prstGeom>
          <a:noFill/>
          <a:ln/>
        </p:spPr>
        <p:txBody>
          <a:bodyPr wrap="square" lIns="0" tIns="0" rIns="0" bIns="0" rtlCol="0" anchor="ctr">
            <a:normAutofit/>
          </a:bodyPr>
          <a:lstStyle/>
          <a:p>
            <a:pPr algn="ctr" indent="0" marL="0">
              <a:buNone/>
            </a:pPr>
            <a:r>
              <a:rPr lang="en-US" sz="1300" b="1" dirty="0">
                <a:solidFill>
                  <a:srgbClr val="111827"/>
                </a:solidFill>
              </a:rPr>
              <a:t>Pilot đề xuất: 20–30 mẫu biểu có tần suất cao nhất → đo thời gian xử lý, tỷ lệ hồ sơ phải bổ sung, mức độ hài lòng RM/KH.</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658368" y="594360"/>
            <a:ext cx="4754880" cy="411480"/>
          </a:xfrm>
          <a:prstGeom prst="rect">
            <a:avLst/>
          </a:prstGeom>
          <a:noFill/>
          <a:ln/>
        </p:spPr>
        <p:txBody>
          <a:bodyPr wrap="square" lIns="0" tIns="0" rIns="0" bIns="0" rtlCol="0" anchor="ctr"/>
          <a:lstStyle/>
          <a:p>
            <a:pPr indent="0" marL="0">
              <a:buNone/>
            </a:pPr>
            <a:r>
              <a:rPr lang="en-US" sz="2800" b="1" dirty="0">
                <a:solidFill>
                  <a:srgbClr val="FFFFFF"/>
                </a:solidFill>
              </a:rPr>
              <a:t>Kịch bản thuyết trình 07 phút</a:t>
            </a:r>
            <a:endParaRPr lang="en-US" sz="2800" dirty="0"/>
          </a:p>
        </p:txBody>
      </p:sp>
      <p:sp>
        <p:nvSpPr>
          <p:cNvPr id="3" name="Text 1"/>
          <p:cNvSpPr/>
          <p:nvPr/>
        </p:nvSpPr>
        <p:spPr>
          <a:xfrm>
            <a:off x="676656" y="1078992"/>
            <a:ext cx="5760720" cy="219456"/>
          </a:xfrm>
          <a:prstGeom prst="rect">
            <a:avLst/>
          </a:prstGeom>
          <a:noFill/>
          <a:ln/>
        </p:spPr>
        <p:txBody>
          <a:bodyPr wrap="square" lIns="0" tIns="0" rIns="0" bIns="0" rtlCol="0" anchor="ctr"/>
          <a:lstStyle/>
          <a:p>
            <a:pPr indent="0" marL="0">
              <a:buNone/>
            </a:pPr>
            <a:r>
              <a:rPr lang="en-US" sz="1250" dirty="0">
                <a:solidFill>
                  <a:srgbClr val="CBD5E1"/>
                </a:solidFill>
              </a:rPr>
              <a:t>Giữ nhịp nhanh – tập trung vào demo – chốt bằng giá trị kinh doanh</a:t>
            </a:r>
            <a:endParaRPr lang="en-US" sz="1250" dirty="0"/>
          </a:p>
        </p:txBody>
      </p:sp>
      <p:sp>
        <p:nvSpPr>
          <p:cNvPr id="4" name="Text 2"/>
          <p:cNvSpPr/>
          <p:nvPr/>
        </p:nvSpPr>
        <p:spPr>
          <a:xfrm>
            <a:off x="777240" y="1627632"/>
            <a:ext cx="1005840" cy="173736"/>
          </a:xfrm>
          <a:prstGeom prst="rect">
            <a:avLst/>
          </a:prstGeom>
          <a:noFill/>
          <a:ln/>
        </p:spPr>
        <p:txBody>
          <a:bodyPr wrap="square" lIns="0" tIns="0" rIns="0" bIns="0" rtlCol="0" anchor="ctr"/>
          <a:lstStyle/>
          <a:p>
            <a:pPr indent="0" marL="0">
              <a:buNone/>
            </a:pPr>
            <a:r>
              <a:rPr lang="en-US" sz="1050" b="1" dirty="0">
                <a:solidFill>
                  <a:srgbClr val="FCA5A5"/>
                </a:solidFill>
              </a:rPr>
              <a:t>0:00–0:35</a:t>
            </a:r>
            <a:endParaRPr lang="en-US" sz="1050" dirty="0"/>
          </a:p>
        </p:txBody>
      </p:sp>
      <p:sp>
        <p:nvSpPr>
          <p:cNvPr id="5" name="Text 3"/>
          <p:cNvSpPr/>
          <p:nvPr/>
        </p:nvSpPr>
        <p:spPr>
          <a:xfrm>
            <a:off x="1993392" y="1609344"/>
            <a:ext cx="1417320" cy="201168"/>
          </a:xfrm>
          <a:prstGeom prst="rect">
            <a:avLst/>
          </a:prstGeom>
          <a:noFill/>
          <a:ln/>
        </p:spPr>
        <p:txBody>
          <a:bodyPr wrap="square" lIns="0" tIns="0" rIns="0" bIns="0" rtlCol="0" anchor="ctr"/>
          <a:lstStyle/>
          <a:p>
            <a:pPr indent="0" marL="0">
              <a:buNone/>
            </a:pPr>
            <a:r>
              <a:rPr lang="en-US" sz="1250" b="1" dirty="0">
                <a:solidFill>
                  <a:srgbClr val="FFFFFF"/>
                </a:solidFill>
              </a:rPr>
              <a:t>Mở bài</a:t>
            </a:r>
            <a:endParaRPr lang="en-US" sz="1250" dirty="0"/>
          </a:p>
        </p:txBody>
      </p:sp>
      <p:sp>
        <p:nvSpPr>
          <p:cNvPr id="6" name="Text 4"/>
          <p:cNvSpPr/>
          <p:nvPr/>
        </p:nvSpPr>
        <p:spPr>
          <a:xfrm>
            <a:off x="3657600" y="1618488"/>
            <a:ext cx="7040880" cy="201168"/>
          </a:xfrm>
          <a:prstGeom prst="rect">
            <a:avLst/>
          </a:prstGeom>
          <a:noFill/>
          <a:ln/>
        </p:spPr>
        <p:txBody>
          <a:bodyPr wrap="square" lIns="0" tIns="0" rIns="0" bIns="0" rtlCol="0" anchor="ctr">
            <a:normAutofit/>
          </a:bodyPr>
          <a:lstStyle/>
          <a:p>
            <a:pPr indent="0" marL="0">
              <a:buNone/>
            </a:pPr>
            <a:r>
              <a:rPr lang="en-US" sz="1080" dirty="0">
                <a:solidFill>
                  <a:srgbClr val="CBD5E1"/>
                </a:solidFill>
              </a:rPr>
              <a:t>SmartForm AI: từ 1 câu nói đến bộ hồ sơ sẵn sàng ký/nộp.</a:t>
            </a:r>
            <a:endParaRPr lang="en-US" sz="1080" dirty="0"/>
          </a:p>
        </p:txBody>
      </p:sp>
      <p:sp>
        <p:nvSpPr>
          <p:cNvPr id="7" name="Text 5"/>
          <p:cNvSpPr/>
          <p:nvPr/>
        </p:nvSpPr>
        <p:spPr>
          <a:xfrm>
            <a:off x="777240" y="2203704"/>
            <a:ext cx="1005840" cy="173736"/>
          </a:xfrm>
          <a:prstGeom prst="rect">
            <a:avLst/>
          </a:prstGeom>
          <a:noFill/>
          <a:ln/>
        </p:spPr>
        <p:txBody>
          <a:bodyPr wrap="square" lIns="0" tIns="0" rIns="0" bIns="0" rtlCol="0" anchor="ctr"/>
          <a:lstStyle/>
          <a:p>
            <a:pPr indent="0" marL="0">
              <a:buNone/>
            </a:pPr>
            <a:r>
              <a:rPr lang="en-US" sz="1050" b="1" dirty="0">
                <a:solidFill>
                  <a:srgbClr val="FCA5A5"/>
                </a:solidFill>
              </a:rPr>
              <a:t>0:35–1:10</a:t>
            </a:r>
            <a:endParaRPr lang="en-US" sz="1050" dirty="0"/>
          </a:p>
        </p:txBody>
      </p:sp>
      <p:sp>
        <p:nvSpPr>
          <p:cNvPr id="8" name="Text 6"/>
          <p:cNvSpPr/>
          <p:nvPr/>
        </p:nvSpPr>
        <p:spPr>
          <a:xfrm>
            <a:off x="1993392" y="2185416"/>
            <a:ext cx="1417320" cy="201168"/>
          </a:xfrm>
          <a:prstGeom prst="rect">
            <a:avLst/>
          </a:prstGeom>
          <a:noFill/>
          <a:ln/>
        </p:spPr>
        <p:txBody>
          <a:bodyPr wrap="square" lIns="0" tIns="0" rIns="0" bIns="0" rtlCol="0" anchor="ctr"/>
          <a:lstStyle/>
          <a:p>
            <a:pPr indent="0" marL="0">
              <a:buNone/>
            </a:pPr>
            <a:r>
              <a:rPr lang="en-US" sz="1250" b="1" dirty="0">
                <a:solidFill>
                  <a:srgbClr val="FFFFFF"/>
                </a:solidFill>
              </a:rPr>
              <a:t>Pain point</a:t>
            </a:r>
            <a:endParaRPr lang="en-US" sz="1250" dirty="0"/>
          </a:p>
        </p:txBody>
      </p:sp>
      <p:sp>
        <p:nvSpPr>
          <p:cNvPr id="9" name="Text 7"/>
          <p:cNvSpPr/>
          <p:nvPr/>
        </p:nvSpPr>
        <p:spPr>
          <a:xfrm>
            <a:off x="3657600" y="2194560"/>
            <a:ext cx="7040880" cy="201168"/>
          </a:xfrm>
          <a:prstGeom prst="rect">
            <a:avLst/>
          </a:prstGeom>
          <a:noFill/>
          <a:ln/>
        </p:spPr>
        <p:txBody>
          <a:bodyPr wrap="square" lIns="0" tIns="0" rIns="0" bIns="0" rtlCol="0" anchor="ctr">
            <a:normAutofit/>
          </a:bodyPr>
          <a:lstStyle/>
          <a:p>
            <a:pPr indent="0" marL="0">
              <a:buNone/>
            </a:pPr>
            <a:r>
              <a:rPr lang="en-US" sz="1080" dirty="0">
                <a:solidFill>
                  <a:srgbClr val="CBD5E1"/>
                </a:solidFill>
              </a:rPr>
              <a:t>Khách hàng/RM không biết mẫu nào, dễ sai quyền, thiếu trường.</a:t>
            </a:r>
            <a:endParaRPr lang="en-US" sz="1080" dirty="0"/>
          </a:p>
        </p:txBody>
      </p:sp>
      <p:sp>
        <p:nvSpPr>
          <p:cNvPr id="10" name="Text 8"/>
          <p:cNvSpPr/>
          <p:nvPr/>
        </p:nvSpPr>
        <p:spPr>
          <a:xfrm>
            <a:off x="777240" y="2779776"/>
            <a:ext cx="1005840" cy="173736"/>
          </a:xfrm>
          <a:prstGeom prst="rect">
            <a:avLst/>
          </a:prstGeom>
          <a:noFill/>
          <a:ln/>
        </p:spPr>
        <p:txBody>
          <a:bodyPr wrap="square" lIns="0" tIns="0" rIns="0" bIns="0" rtlCol="0" anchor="ctr"/>
          <a:lstStyle/>
          <a:p>
            <a:pPr indent="0" marL="0">
              <a:buNone/>
            </a:pPr>
            <a:r>
              <a:rPr lang="en-US" sz="1050" b="1" dirty="0">
                <a:solidFill>
                  <a:srgbClr val="FCA5A5"/>
                </a:solidFill>
              </a:rPr>
              <a:t>1:10–1:55</a:t>
            </a:r>
            <a:endParaRPr lang="en-US" sz="1050" dirty="0"/>
          </a:p>
        </p:txBody>
      </p:sp>
      <p:sp>
        <p:nvSpPr>
          <p:cNvPr id="11" name="Text 9"/>
          <p:cNvSpPr/>
          <p:nvPr/>
        </p:nvSpPr>
        <p:spPr>
          <a:xfrm>
            <a:off x="1993392" y="2761488"/>
            <a:ext cx="1417320" cy="201168"/>
          </a:xfrm>
          <a:prstGeom prst="rect">
            <a:avLst/>
          </a:prstGeom>
          <a:noFill/>
          <a:ln/>
        </p:spPr>
        <p:txBody>
          <a:bodyPr wrap="square" lIns="0" tIns="0" rIns="0" bIns="0" rtlCol="0" anchor="ctr"/>
          <a:lstStyle/>
          <a:p>
            <a:pPr indent="0" marL="0">
              <a:buNone/>
            </a:pPr>
            <a:r>
              <a:rPr lang="en-US" sz="1250" b="1" dirty="0">
                <a:solidFill>
                  <a:srgbClr val="FFFFFF"/>
                </a:solidFill>
              </a:rPr>
              <a:t>Giải pháp</a:t>
            </a:r>
            <a:endParaRPr lang="en-US" sz="1250" dirty="0"/>
          </a:p>
        </p:txBody>
      </p:sp>
      <p:sp>
        <p:nvSpPr>
          <p:cNvPr id="12" name="Text 10"/>
          <p:cNvSpPr/>
          <p:nvPr/>
        </p:nvSpPr>
        <p:spPr>
          <a:xfrm>
            <a:off x="3657600" y="2770632"/>
            <a:ext cx="7040880" cy="201168"/>
          </a:xfrm>
          <a:prstGeom prst="rect">
            <a:avLst/>
          </a:prstGeom>
          <a:noFill/>
          <a:ln/>
        </p:spPr>
        <p:txBody>
          <a:bodyPr wrap="square" lIns="0" tIns="0" rIns="0" bIns="0" rtlCol="0" anchor="ctr">
            <a:normAutofit/>
          </a:bodyPr>
          <a:lstStyle/>
          <a:p>
            <a:pPr indent="0" marL="0">
              <a:buNone/>
            </a:pPr>
            <a:r>
              <a:rPr lang="en-US" sz="1080" dirty="0">
                <a:solidFill>
                  <a:srgbClr val="CBD5E1"/>
                </a:solidFill>
              </a:rPr>
              <a:t>Multi-step agent: hiểu nhu cầu → chọn mẫu → điền → kiểm tra.</a:t>
            </a:r>
            <a:endParaRPr lang="en-US" sz="1080" dirty="0"/>
          </a:p>
        </p:txBody>
      </p:sp>
      <p:sp>
        <p:nvSpPr>
          <p:cNvPr id="13" name="Text 11"/>
          <p:cNvSpPr/>
          <p:nvPr/>
        </p:nvSpPr>
        <p:spPr>
          <a:xfrm>
            <a:off x="777240" y="3355848"/>
            <a:ext cx="1005840" cy="173736"/>
          </a:xfrm>
          <a:prstGeom prst="rect">
            <a:avLst/>
          </a:prstGeom>
          <a:noFill/>
          <a:ln/>
        </p:spPr>
        <p:txBody>
          <a:bodyPr wrap="square" lIns="0" tIns="0" rIns="0" bIns="0" rtlCol="0" anchor="ctr"/>
          <a:lstStyle/>
          <a:p>
            <a:pPr indent="0" marL="0">
              <a:buNone/>
            </a:pPr>
            <a:r>
              <a:rPr lang="en-US" sz="1050" b="1" dirty="0">
                <a:solidFill>
                  <a:srgbClr val="FCA5A5"/>
                </a:solidFill>
              </a:rPr>
              <a:t>1:55–2:35</a:t>
            </a:r>
            <a:endParaRPr lang="en-US" sz="1050" dirty="0"/>
          </a:p>
        </p:txBody>
      </p:sp>
      <p:sp>
        <p:nvSpPr>
          <p:cNvPr id="14" name="Text 12"/>
          <p:cNvSpPr/>
          <p:nvPr/>
        </p:nvSpPr>
        <p:spPr>
          <a:xfrm>
            <a:off x="1993392" y="3337560"/>
            <a:ext cx="1417320" cy="201168"/>
          </a:xfrm>
          <a:prstGeom prst="rect">
            <a:avLst/>
          </a:prstGeom>
          <a:noFill/>
          <a:ln/>
        </p:spPr>
        <p:txBody>
          <a:bodyPr wrap="square" lIns="0" tIns="0" rIns="0" bIns="0" rtlCol="0" anchor="ctr"/>
          <a:lstStyle/>
          <a:p>
            <a:pPr indent="0" marL="0">
              <a:buNone/>
            </a:pPr>
            <a:r>
              <a:rPr lang="en-US" sz="1250" b="1" dirty="0">
                <a:solidFill>
                  <a:srgbClr val="FFFFFF"/>
                </a:solidFill>
              </a:rPr>
              <a:t>Persona</a:t>
            </a:r>
            <a:endParaRPr lang="en-US" sz="1250" dirty="0"/>
          </a:p>
        </p:txBody>
      </p:sp>
      <p:sp>
        <p:nvSpPr>
          <p:cNvPr id="15" name="Text 13"/>
          <p:cNvSpPr/>
          <p:nvPr/>
        </p:nvSpPr>
        <p:spPr>
          <a:xfrm>
            <a:off x="3657600" y="3346704"/>
            <a:ext cx="7040880" cy="201168"/>
          </a:xfrm>
          <a:prstGeom prst="rect">
            <a:avLst/>
          </a:prstGeom>
          <a:noFill/>
          <a:ln/>
        </p:spPr>
        <p:txBody>
          <a:bodyPr wrap="square" lIns="0" tIns="0" rIns="0" bIns="0" rtlCol="0" anchor="ctr">
            <a:normAutofit/>
          </a:bodyPr>
          <a:lstStyle/>
          <a:p>
            <a:pPr indent="0" marL="0">
              <a:buNone/>
            </a:pPr>
            <a:r>
              <a:rPr lang="en-US" sz="1080" dirty="0">
                <a:solidFill>
                  <a:srgbClr val="CBD5E1"/>
                </a:solidFill>
              </a:rPr>
              <a:t>5 khách hàng giả lập; chọn TNHH Z làm demo chính.</a:t>
            </a:r>
            <a:endParaRPr lang="en-US" sz="1080" dirty="0"/>
          </a:p>
        </p:txBody>
      </p:sp>
      <p:sp>
        <p:nvSpPr>
          <p:cNvPr id="16" name="Text 14"/>
          <p:cNvSpPr/>
          <p:nvPr/>
        </p:nvSpPr>
        <p:spPr>
          <a:xfrm>
            <a:off x="777240" y="3931920"/>
            <a:ext cx="1005840" cy="173736"/>
          </a:xfrm>
          <a:prstGeom prst="rect">
            <a:avLst/>
          </a:prstGeom>
          <a:noFill/>
          <a:ln/>
        </p:spPr>
        <p:txBody>
          <a:bodyPr wrap="square" lIns="0" tIns="0" rIns="0" bIns="0" rtlCol="0" anchor="ctr"/>
          <a:lstStyle/>
          <a:p>
            <a:pPr indent="0" marL="0">
              <a:buNone/>
            </a:pPr>
            <a:r>
              <a:rPr lang="en-US" sz="1050" b="1" dirty="0">
                <a:solidFill>
                  <a:srgbClr val="FCA5A5"/>
                </a:solidFill>
              </a:rPr>
              <a:t>2:35–4:20</a:t>
            </a:r>
            <a:endParaRPr lang="en-US" sz="1050" dirty="0"/>
          </a:p>
        </p:txBody>
      </p:sp>
      <p:sp>
        <p:nvSpPr>
          <p:cNvPr id="17" name="Text 15"/>
          <p:cNvSpPr/>
          <p:nvPr/>
        </p:nvSpPr>
        <p:spPr>
          <a:xfrm>
            <a:off x="1993392" y="3913632"/>
            <a:ext cx="1417320" cy="201168"/>
          </a:xfrm>
          <a:prstGeom prst="rect">
            <a:avLst/>
          </a:prstGeom>
          <a:noFill/>
          <a:ln/>
        </p:spPr>
        <p:txBody>
          <a:bodyPr wrap="square" lIns="0" tIns="0" rIns="0" bIns="0" rtlCol="0" anchor="ctr"/>
          <a:lstStyle/>
          <a:p>
            <a:pPr indent="0" marL="0">
              <a:buNone/>
            </a:pPr>
            <a:r>
              <a:rPr lang="en-US" sz="1250" b="1" dirty="0">
                <a:solidFill>
                  <a:srgbClr val="FFFFFF"/>
                </a:solidFill>
              </a:rPr>
              <a:t>Live demo</a:t>
            </a:r>
            <a:endParaRPr lang="en-US" sz="1250" dirty="0"/>
          </a:p>
        </p:txBody>
      </p:sp>
      <p:sp>
        <p:nvSpPr>
          <p:cNvPr id="18" name="Text 16"/>
          <p:cNvSpPr/>
          <p:nvPr/>
        </p:nvSpPr>
        <p:spPr>
          <a:xfrm>
            <a:off x="3657600" y="3922776"/>
            <a:ext cx="7040880" cy="201168"/>
          </a:xfrm>
          <a:prstGeom prst="rect">
            <a:avLst/>
          </a:prstGeom>
          <a:noFill/>
          <a:ln/>
        </p:spPr>
        <p:txBody>
          <a:bodyPr wrap="square" lIns="0" tIns="0" rIns="0" bIns="0" rtlCol="0" anchor="ctr">
            <a:normAutofit/>
          </a:bodyPr>
          <a:lstStyle/>
          <a:p>
            <a:pPr indent="0" marL="0">
              <a:buNone/>
            </a:pPr>
            <a:r>
              <a:rPr lang="en-US" sz="1080" dirty="0">
                <a:solidFill>
                  <a:srgbClr val="CBD5E1"/>
                </a:solidFill>
              </a:rPr>
              <a:t>Nhập prompt eTax + chữ ký số → Agent tạo hồ sơ/checklist.</a:t>
            </a:r>
            <a:endParaRPr lang="en-US" sz="1080" dirty="0"/>
          </a:p>
        </p:txBody>
      </p:sp>
      <p:sp>
        <p:nvSpPr>
          <p:cNvPr id="19" name="Text 17"/>
          <p:cNvSpPr/>
          <p:nvPr/>
        </p:nvSpPr>
        <p:spPr>
          <a:xfrm>
            <a:off x="777240" y="4507992"/>
            <a:ext cx="1005840" cy="173736"/>
          </a:xfrm>
          <a:prstGeom prst="rect">
            <a:avLst/>
          </a:prstGeom>
          <a:noFill/>
          <a:ln/>
        </p:spPr>
        <p:txBody>
          <a:bodyPr wrap="square" lIns="0" tIns="0" rIns="0" bIns="0" rtlCol="0" anchor="ctr"/>
          <a:lstStyle/>
          <a:p>
            <a:pPr indent="0" marL="0">
              <a:buNone/>
            </a:pPr>
            <a:r>
              <a:rPr lang="en-US" sz="1050" b="1" dirty="0">
                <a:solidFill>
                  <a:srgbClr val="FCA5A5"/>
                </a:solidFill>
              </a:rPr>
              <a:t>4:20–5:45</a:t>
            </a:r>
            <a:endParaRPr lang="en-US" sz="1050" dirty="0"/>
          </a:p>
        </p:txBody>
      </p:sp>
      <p:sp>
        <p:nvSpPr>
          <p:cNvPr id="20" name="Text 18"/>
          <p:cNvSpPr/>
          <p:nvPr/>
        </p:nvSpPr>
        <p:spPr>
          <a:xfrm>
            <a:off x="1993392" y="4489704"/>
            <a:ext cx="1417320" cy="201168"/>
          </a:xfrm>
          <a:prstGeom prst="rect">
            <a:avLst/>
          </a:prstGeom>
          <a:noFill/>
          <a:ln/>
        </p:spPr>
        <p:txBody>
          <a:bodyPr wrap="square" lIns="0" tIns="0" rIns="0" bIns="0" rtlCol="0" anchor="ctr"/>
          <a:lstStyle/>
          <a:p>
            <a:pPr indent="0" marL="0">
              <a:buNone/>
            </a:pPr>
            <a:r>
              <a:rPr lang="en-US" sz="1250" b="1" dirty="0">
                <a:solidFill>
                  <a:srgbClr val="FFFFFF"/>
                </a:solidFill>
              </a:rPr>
              <a:t>Kiến trúc &amp; an toàn</a:t>
            </a:r>
            <a:endParaRPr lang="en-US" sz="1250" dirty="0"/>
          </a:p>
        </p:txBody>
      </p:sp>
      <p:sp>
        <p:nvSpPr>
          <p:cNvPr id="21" name="Text 19"/>
          <p:cNvSpPr/>
          <p:nvPr/>
        </p:nvSpPr>
        <p:spPr>
          <a:xfrm>
            <a:off x="3657600" y="4498848"/>
            <a:ext cx="7040880" cy="201168"/>
          </a:xfrm>
          <a:prstGeom prst="rect">
            <a:avLst/>
          </a:prstGeom>
          <a:noFill/>
          <a:ln/>
        </p:spPr>
        <p:txBody>
          <a:bodyPr wrap="square" lIns="0" tIns="0" rIns="0" bIns="0" rtlCol="0" anchor="ctr">
            <a:normAutofit/>
          </a:bodyPr>
          <a:lstStyle/>
          <a:p>
            <a:pPr indent="0" marL="0">
              <a:buNone/>
            </a:pPr>
            <a:r>
              <a:rPr lang="en-US" sz="1080" dirty="0">
                <a:solidFill>
                  <a:srgbClr val="CBD5E1"/>
                </a:solidFill>
              </a:rPr>
              <a:t>Form Registry, validation, không dùng dữ liệu thật/bí mật.</a:t>
            </a:r>
            <a:endParaRPr lang="en-US" sz="1080" dirty="0"/>
          </a:p>
        </p:txBody>
      </p:sp>
      <p:sp>
        <p:nvSpPr>
          <p:cNvPr id="22" name="Text 20"/>
          <p:cNvSpPr/>
          <p:nvPr/>
        </p:nvSpPr>
        <p:spPr>
          <a:xfrm>
            <a:off x="777240" y="5084064"/>
            <a:ext cx="1005840" cy="173736"/>
          </a:xfrm>
          <a:prstGeom prst="rect">
            <a:avLst/>
          </a:prstGeom>
          <a:noFill/>
          <a:ln/>
        </p:spPr>
        <p:txBody>
          <a:bodyPr wrap="square" lIns="0" tIns="0" rIns="0" bIns="0" rtlCol="0" anchor="ctr"/>
          <a:lstStyle/>
          <a:p>
            <a:pPr indent="0" marL="0">
              <a:buNone/>
            </a:pPr>
            <a:r>
              <a:rPr lang="en-US" sz="1050" b="1" dirty="0">
                <a:solidFill>
                  <a:srgbClr val="FCA5A5"/>
                </a:solidFill>
              </a:rPr>
              <a:t>5:45–7:00</a:t>
            </a:r>
            <a:endParaRPr lang="en-US" sz="1050" dirty="0"/>
          </a:p>
        </p:txBody>
      </p:sp>
      <p:sp>
        <p:nvSpPr>
          <p:cNvPr id="23" name="Text 21"/>
          <p:cNvSpPr/>
          <p:nvPr/>
        </p:nvSpPr>
        <p:spPr>
          <a:xfrm>
            <a:off x="1993392" y="5065776"/>
            <a:ext cx="1417320" cy="201168"/>
          </a:xfrm>
          <a:prstGeom prst="rect">
            <a:avLst/>
          </a:prstGeom>
          <a:noFill/>
          <a:ln/>
        </p:spPr>
        <p:txBody>
          <a:bodyPr wrap="square" lIns="0" tIns="0" rIns="0" bIns="0" rtlCol="0" anchor="ctr"/>
          <a:lstStyle/>
          <a:p>
            <a:pPr indent="0" marL="0">
              <a:buNone/>
            </a:pPr>
            <a:r>
              <a:rPr lang="en-US" sz="1250" b="1" dirty="0">
                <a:solidFill>
                  <a:srgbClr val="FFFFFF"/>
                </a:solidFill>
              </a:rPr>
              <a:t>Impact &amp; ask</a:t>
            </a:r>
            <a:endParaRPr lang="en-US" sz="1250" dirty="0"/>
          </a:p>
        </p:txBody>
      </p:sp>
      <p:sp>
        <p:nvSpPr>
          <p:cNvPr id="24" name="Text 22"/>
          <p:cNvSpPr/>
          <p:nvPr/>
        </p:nvSpPr>
        <p:spPr>
          <a:xfrm>
            <a:off x="3657600" y="5074920"/>
            <a:ext cx="7040880" cy="201168"/>
          </a:xfrm>
          <a:prstGeom prst="rect">
            <a:avLst/>
          </a:prstGeom>
          <a:noFill/>
          <a:ln/>
        </p:spPr>
        <p:txBody>
          <a:bodyPr wrap="square" lIns="0" tIns="0" rIns="0" bIns="0" rtlCol="0" anchor="ctr">
            <a:normAutofit/>
          </a:bodyPr>
          <a:lstStyle/>
          <a:p>
            <a:pPr indent="0" marL="0">
              <a:buNone/>
            </a:pPr>
            <a:r>
              <a:rPr lang="en-US" sz="1080" dirty="0">
                <a:solidFill>
                  <a:srgbClr val="CBD5E1"/>
                </a:solidFill>
              </a:rPr>
              <a:t>Pilot 20–30 mẫu tần suất cao; đo hiệu quả và mở rộng.</a:t>
            </a:r>
            <a:endParaRPr lang="en-US" sz="1080" dirty="0"/>
          </a:p>
        </p:txBody>
      </p:sp>
      <p:sp>
        <p:nvSpPr>
          <p:cNvPr id="25" name="Shape 23"/>
          <p:cNvSpPr/>
          <p:nvPr/>
        </p:nvSpPr>
        <p:spPr>
          <a:xfrm>
            <a:off x="1005840" y="5897880"/>
            <a:ext cx="10012680" cy="384048"/>
          </a:xfrm>
          <a:prstGeom prst="roundRect">
            <a:avLst>
              <a:gd name="adj" fmla="val 9524"/>
            </a:avLst>
          </a:prstGeom>
          <a:solidFill>
            <a:srgbClr val="E30613"/>
          </a:solidFill>
          <a:ln w="12700">
            <a:solidFill>
              <a:srgbClr val="E30613"/>
            </a:solidFill>
            <a:prstDash val="solid"/>
          </a:ln>
        </p:spPr>
      </p:sp>
      <p:sp>
        <p:nvSpPr>
          <p:cNvPr id="26" name="Text 24"/>
          <p:cNvSpPr/>
          <p:nvPr/>
        </p:nvSpPr>
        <p:spPr>
          <a:xfrm>
            <a:off x="1234440" y="6016752"/>
            <a:ext cx="9555480" cy="109728"/>
          </a:xfrm>
          <a:prstGeom prst="rect">
            <a:avLst/>
          </a:prstGeom>
          <a:noFill/>
          <a:ln/>
        </p:spPr>
        <p:txBody>
          <a:bodyPr wrap="square" lIns="0" tIns="0" rIns="0" bIns="0" rtlCol="0" anchor="ctr">
            <a:normAutofit/>
          </a:bodyPr>
          <a:lstStyle/>
          <a:p>
            <a:pPr algn="ctr" indent="0" marL="0">
              <a:buNone/>
            </a:pPr>
            <a:r>
              <a:rPr lang="en-US" sz="1080" b="1" dirty="0">
                <a:solidFill>
                  <a:srgbClr val="FFFFFF"/>
                </a:solidFill>
              </a:rPr>
              <a:t>ASK: Cho phép pilot với nhóm mẫu tài khoản/eBank/eTax/chữ ký số tần suất cao nhất trong Khối KH Doanh nghiệp.</a:t>
            </a:r>
            <a:endParaRPr lang="en-US" sz="10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MSB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MSB SmartForm AI – 7 phút demo</dc:title>
  <dc:subject>MSB Hackathon 2026 demo pitch</dc:subject>
  <dc:creator>OpenAI</dc:creator>
  <cp:lastModifiedBy>OpenAI</cp:lastModifiedBy>
  <cp:revision>1</cp:revision>
  <dcterms:created xsi:type="dcterms:W3CDTF">2026-09-17T06:38:55Z</dcterms:created>
  <dcterms:modified xsi:type="dcterms:W3CDTF">2026-09-17T06:38:55Z</dcterms:modified>
</cp:coreProperties>
</file>